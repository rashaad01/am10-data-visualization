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0" r:id="rId1"/>
  </p:sldMasterIdLst>
  <p:notesMasterIdLst>
    <p:notesMasterId r:id="rId13"/>
  </p:notesMasterIdLst>
  <p:sldIdLst>
    <p:sldId id="273" r:id="rId2"/>
    <p:sldId id="296" r:id="rId3"/>
    <p:sldId id="295" r:id="rId4"/>
    <p:sldId id="293" r:id="rId5"/>
    <p:sldId id="294" r:id="rId6"/>
    <p:sldId id="304" r:id="rId7"/>
    <p:sldId id="298" r:id="rId8"/>
    <p:sldId id="300" r:id="rId9"/>
    <p:sldId id="305" r:id="rId10"/>
    <p:sldId id="299" r:id="rId11"/>
    <p:sldId id="30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E75E278A-FF0E-49A4-B170-79828D63BBAD}">
          <p14:sldIdLst>
            <p14:sldId id="273"/>
          </p14:sldIdLst>
        </p14:section>
        <p14:section name="Main" id="{B9B51309-D148-4332-87C2-07BE32FBCA3B}">
          <p14:sldIdLst>
            <p14:sldId id="296"/>
            <p14:sldId id="295"/>
            <p14:sldId id="293"/>
            <p14:sldId id="294"/>
            <p14:sldId id="304"/>
            <p14:sldId id="298"/>
            <p14:sldId id="300"/>
            <p14:sldId id="305"/>
            <p14:sldId id="299"/>
            <p14:sldId id="306"/>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EBEB"/>
    <a:srgbClr val="DD462F"/>
    <a:srgbClr val="F8F8F8"/>
    <a:srgbClr val="D24726"/>
    <a:srgbClr val="D2B4A6"/>
    <a:srgbClr val="734F29"/>
    <a:srgbClr val="AEB785"/>
    <a:srgbClr val="EFD5A2"/>
    <a:srgbClr val="3B3026"/>
    <a:srgbClr val="ECE1C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EF7DCF-8397-0973-1D37-E5CFF58147EB}" v="46" dt="2025-11-16T15:54:20.318"/>
    <p1510:client id="{12DA0F47-883B-E34A-BA32-445B138989AD}" v="421" dt="2025-11-16T22:42:12.407"/>
    <p1510:client id="{3FB32F2A-C6EB-DA18-12C3-2FFDCCA6138B}" v="67" dt="2025-11-16T00:49:38.806"/>
    <p1510:client id="{413205C3-F204-1564-3046-2C3736F88A53}" v="171" dt="2025-11-16T03:12:25.823"/>
    <p1510:client id="{678D51E5-A77E-EAE3-E7B8-D42CFAB606CD}" v="27" dt="2025-11-16T18:40:24.947"/>
    <p1510:client id="{73164A0B-A364-42DE-A04E-A7A4112E999F}" v="4478" dt="2025-11-16T18:28:34.852"/>
    <p1510:client id="{78F1007D-04F4-EF49-59DC-C98548E2B4BF}" v="89" dt="2025-11-16T21:43:57.088"/>
    <p1510:client id="{8AC89055-E9EA-E46D-7FCD-4BE0B4E0DB5E}" v="169" dt="2025-11-15T19:27:30.652"/>
    <p1510:client id="{C9DDF775-5DAD-0742-BECD-CBF1FE819A37}" v="299" dt="2025-11-16T14:31:53.1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8"/>
  </p:normalViewPr>
  <p:slideViewPr>
    <p:cSldViewPr snapToGrid="0">
      <p:cViewPr varScale="1">
        <p:scale>
          <a:sx n="111" d="100"/>
          <a:sy n="111" d="100"/>
        </p:scale>
        <p:origin x="656" y="20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diagrams/_rels/data1.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image" Target="../media/image22.png"/></Relationships>
</file>

<file path=ppt/diagrams/_rels/drawing1.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image" Target="../media/image22.pn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8AC080A-7D4E-2145-877C-45082D5B8892}" type="doc">
      <dgm:prSet loTypeId="urn:microsoft.com/office/officeart/2005/8/layout/vList3" loCatId="List" qsTypeId="urn:microsoft.com/office/officeart/2005/8/quickstyle/simple1" qsCatId="simple" csTypeId="urn:microsoft.com/office/officeart/2005/8/colors/colorful5" csCatId="colorful" phldr="1"/>
      <dgm:spPr/>
      <dgm:t>
        <a:bodyPr/>
        <a:lstStyle/>
        <a:p>
          <a:endParaRPr lang="en-GB"/>
        </a:p>
      </dgm:t>
    </dgm:pt>
    <dgm:pt modelId="{ECDAC672-420C-8649-8379-A0CBDDBA3DFB}">
      <dgm:prSet phldrT="[Text]" custT="1"/>
      <dgm:spPr/>
      <dgm:t>
        <a:bodyPr/>
        <a:lstStyle/>
        <a:p>
          <a:pPr algn="l"/>
          <a:r>
            <a:rPr lang="en-GB" sz="1800" b="1" noProof="0">
              <a:latin typeface="+mn-lt"/>
            </a:rPr>
            <a:t>Discussion &amp; Critique</a:t>
          </a:r>
        </a:p>
        <a:p>
          <a:pPr algn="l"/>
          <a:r>
            <a:rPr lang="en-GB" sz="1500" noProof="0"/>
            <a:t>We learned that high-quality analysis relies on clean, consistent data. Fragmented categories, missing delivery timestamps, and sparse repeat-purchase samples introduced noise and limited some insights. Going forward, we would prioritise earlier data cleaning, clearer documentation, and stronger validation. Future students should expect that most challenges come not from modelling, but from preparing and understanding the data.</a:t>
          </a:r>
          <a:endParaRPr lang="en-GB" sz="1500" noProof="0">
            <a:latin typeface="+mn-lt"/>
          </a:endParaRPr>
        </a:p>
      </dgm:t>
    </dgm:pt>
    <dgm:pt modelId="{4DE4A277-66E6-0B47-8E76-F9C85C784A9A}" type="parTrans" cxnId="{3CE76B42-3E93-7A45-8EE6-99FA53A61030}">
      <dgm:prSet/>
      <dgm:spPr/>
      <dgm:t>
        <a:bodyPr/>
        <a:lstStyle/>
        <a:p>
          <a:endParaRPr lang="en-GB"/>
        </a:p>
      </dgm:t>
    </dgm:pt>
    <dgm:pt modelId="{D13B6F6C-FC88-5A41-B3B3-A6557324D266}" type="sibTrans" cxnId="{3CE76B42-3E93-7A45-8EE6-99FA53A61030}">
      <dgm:prSet/>
      <dgm:spPr/>
      <dgm:t>
        <a:bodyPr/>
        <a:lstStyle/>
        <a:p>
          <a:endParaRPr lang="en-GB"/>
        </a:p>
      </dgm:t>
    </dgm:pt>
    <dgm:pt modelId="{01C67CC7-0840-5148-A06F-D590C225E5B3}" type="pres">
      <dgm:prSet presAssocID="{B8AC080A-7D4E-2145-877C-45082D5B8892}" presName="linearFlow" presStyleCnt="0">
        <dgm:presLayoutVars>
          <dgm:dir/>
          <dgm:resizeHandles val="exact"/>
        </dgm:presLayoutVars>
      </dgm:prSet>
      <dgm:spPr/>
    </dgm:pt>
    <dgm:pt modelId="{650B9AF7-13A5-9B42-B5D2-45926284EFE9}" type="pres">
      <dgm:prSet presAssocID="{ECDAC672-420C-8649-8379-A0CBDDBA3DFB}" presName="composite" presStyleCnt="0"/>
      <dgm:spPr/>
    </dgm:pt>
    <dgm:pt modelId="{A33D98F3-B6A5-144B-B73D-B0100294A603}" type="pres">
      <dgm:prSet presAssocID="{ECDAC672-420C-8649-8379-A0CBDDBA3DFB}" presName="imgShp" presStyleLbl="fgImgPlace1" presStyleIdx="0" presStyleCnt="1" custLinFactNeighborX="-1201" custLinFactNeighborY="-98"/>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Reflection with solid fill"/>
        </a:ext>
      </dgm:extLst>
    </dgm:pt>
    <dgm:pt modelId="{A2D9EEDC-5C74-F844-800E-2184D5F850F8}" type="pres">
      <dgm:prSet presAssocID="{ECDAC672-420C-8649-8379-A0CBDDBA3DFB}" presName="txShp" presStyleLbl="node1" presStyleIdx="0" presStyleCnt="1" custScaleX="109140" custScaleY="100098" custLinFactNeighborX="3640">
        <dgm:presLayoutVars>
          <dgm:bulletEnabled val="1"/>
        </dgm:presLayoutVars>
      </dgm:prSet>
      <dgm:spPr/>
    </dgm:pt>
  </dgm:ptLst>
  <dgm:cxnLst>
    <dgm:cxn modelId="{3CE76B42-3E93-7A45-8EE6-99FA53A61030}" srcId="{B8AC080A-7D4E-2145-877C-45082D5B8892}" destId="{ECDAC672-420C-8649-8379-A0CBDDBA3DFB}" srcOrd="0" destOrd="0" parTransId="{4DE4A277-66E6-0B47-8E76-F9C85C784A9A}" sibTransId="{D13B6F6C-FC88-5A41-B3B3-A6557324D266}"/>
    <dgm:cxn modelId="{3EF763AC-A43F-4772-A485-E048B7C4E4B9}" type="presOf" srcId="{B8AC080A-7D4E-2145-877C-45082D5B8892}" destId="{01C67CC7-0840-5148-A06F-D590C225E5B3}" srcOrd="0" destOrd="0" presId="urn:microsoft.com/office/officeart/2005/8/layout/vList3"/>
    <dgm:cxn modelId="{23A87BEA-AD3B-4AC7-8F5E-2A15B736F69A}" type="presOf" srcId="{ECDAC672-420C-8649-8379-A0CBDDBA3DFB}" destId="{A2D9EEDC-5C74-F844-800E-2184D5F850F8}" srcOrd="0" destOrd="0" presId="urn:microsoft.com/office/officeart/2005/8/layout/vList3"/>
    <dgm:cxn modelId="{CC8CED58-3334-4A37-AB52-8DB389F6A9C8}" type="presParOf" srcId="{01C67CC7-0840-5148-A06F-D590C225E5B3}" destId="{650B9AF7-13A5-9B42-B5D2-45926284EFE9}" srcOrd="0" destOrd="0" presId="urn:microsoft.com/office/officeart/2005/8/layout/vList3"/>
    <dgm:cxn modelId="{CC369EFB-9E2E-4971-8FBC-E4BAEE7F2153}" type="presParOf" srcId="{650B9AF7-13A5-9B42-B5D2-45926284EFE9}" destId="{A33D98F3-B6A5-144B-B73D-B0100294A603}" srcOrd="0" destOrd="0" presId="urn:microsoft.com/office/officeart/2005/8/layout/vList3"/>
    <dgm:cxn modelId="{05E1E8BD-F914-4FE5-A338-265FCEE5F3AC}" type="presParOf" srcId="{650B9AF7-13A5-9B42-B5D2-45926284EFE9}" destId="{A2D9EEDC-5C74-F844-800E-2184D5F850F8}"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D9EEDC-5C74-F844-800E-2184D5F850F8}">
      <dsp:nvSpPr>
        <dsp:cNvPr id="0" name=""/>
        <dsp:cNvSpPr/>
      </dsp:nvSpPr>
      <dsp:spPr>
        <a:xfrm rot="10800000">
          <a:off x="2368620" y="784"/>
          <a:ext cx="9770463" cy="1607774"/>
        </a:xfrm>
        <a:prstGeom prst="homePlat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08290" tIns="68580" rIns="128016" bIns="68580" numCol="1" spcCol="1270" anchor="ctr" anchorCtr="0">
          <a:noAutofit/>
        </a:bodyPr>
        <a:lstStyle/>
        <a:p>
          <a:pPr marL="0" lvl="0" indent="0" algn="l" defTabSz="800100">
            <a:lnSpc>
              <a:spcPct val="90000"/>
            </a:lnSpc>
            <a:spcBef>
              <a:spcPct val="0"/>
            </a:spcBef>
            <a:spcAft>
              <a:spcPct val="35000"/>
            </a:spcAft>
            <a:buNone/>
          </a:pPr>
          <a:r>
            <a:rPr lang="en-GB" sz="1800" b="1" kern="1200" noProof="0">
              <a:latin typeface="+mn-lt"/>
            </a:rPr>
            <a:t>Discussion &amp; Critique</a:t>
          </a:r>
        </a:p>
        <a:p>
          <a:pPr marL="0" lvl="0" indent="0" algn="l" defTabSz="800100">
            <a:lnSpc>
              <a:spcPct val="90000"/>
            </a:lnSpc>
            <a:spcBef>
              <a:spcPct val="0"/>
            </a:spcBef>
            <a:spcAft>
              <a:spcPct val="35000"/>
            </a:spcAft>
            <a:buNone/>
          </a:pPr>
          <a:r>
            <a:rPr lang="en-GB" sz="1500" kern="1200" noProof="0"/>
            <a:t>We learned that high-quality analysis relies on clean, consistent data. Fragmented categories, missing delivery timestamps, and sparse repeat-purchase samples introduced noise and limited some insights. Going forward, we would prioritise earlier data cleaning, clearer documentation, and stronger validation. Future students should expect that most challenges come not from modelling, but from preparing and understanding the data.</a:t>
          </a:r>
          <a:endParaRPr lang="en-GB" sz="1500" kern="1200" noProof="0">
            <a:latin typeface="+mn-lt"/>
          </a:endParaRPr>
        </a:p>
      </dsp:txBody>
      <dsp:txXfrm rot="10800000">
        <a:off x="2770563" y="784"/>
        <a:ext cx="9368520" cy="1607774"/>
      </dsp:txXfrm>
    </dsp:sp>
    <dsp:sp modelId="{A33D98F3-B6A5-144B-B73D-B0100294A603}">
      <dsp:nvSpPr>
        <dsp:cNvPr id="0" name=""/>
        <dsp:cNvSpPr/>
      </dsp:nvSpPr>
      <dsp:spPr>
        <a:xfrm>
          <a:off x="1629485" y="0"/>
          <a:ext cx="1606200" cy="1606200"/>
        </a:xfrm>
        <a:prstGeom prst="ellipse">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3577B-6902-467D-A26C-08A0DD5E4E03}" type="datetimeFigureOut">
              <a:rPr lang="en-US" smtClean="0"/>
              <a:t>11/16/25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61EA0F-A667-4B49-8422-0062BC55E249}" type="slidenum">
              <a:rPr lang="en-US" smtClean="0"/>
              <a:t>‹#›</a:t>
            </a:fld>
            <a:endParaRPr lang="en-US"/>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t>1</a:t>
            </a:fld>
            <a:endParaRPr lang="en-US"/>
          </a:p>
        </p:txBody>
      </p:sp>
    </p:spTree>
    <p:extLst>
      <p:ext uri="{BB962C8B-B14F-4D97-AF65-F5344CB8AC3E}">
        <p14:creationId xmlns:p14="http://schemas.microsoft.com/office/powerpoint/2010/main" val="2370055895"/>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5" y="1346948"/>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p:cNvSpPr/>
          <p:nvPr/>
        </p:nvSpPr>
        <p:spPr>
          <a:xfrm>
            <a:off x="920835" y="4299698"/>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ectangle 8"/>
          <p:cNvSpPr/>
          <p:nvPr/>
        </p:nvSpPr>
        <p:spPr>
          <a:xfrm>
            <a:off x="920835"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GB"/>
              <a:t>Click to edit Master title style</a:t>
            </a:r>
            <a:endParaRPr lang="en-US"/>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189" indent="0" algn="ctr">
              <a:buNone/>
              <a:defRPr sz="2800"/>
            </a:lvl2pPr>
            <a:lvl3pPr marL="914377" indent="0" algn="ctr">
              <a:buNone/>
              <a:defRPr sz="2400"/>
            </a:lvl3pPr>
            <a:lvl4pPr marL="1371566" indent="0" algn="ctr">
              <a:buNone/>
              <a:defRPr sz="2000"/>
            </a:lvl4pPr>
            <a:lvl5pPr marL="1828754" indent="0" algn="ctr">
              <a:buNone/>
              <a:defRPr sz="2000"/>
            </a:lvl5pPr>
            <a:lvl6pPr marL="2285943" indent="0" algn="ctr">
              <a:buNone/>
              <a:defRPr sz="2000"/>
            </a:lvl6pPr>
            <a:lvl7pPr marL="2743131" indent="0" algn="ctr">
              <a:buNone/>
              <a:defRPr sz="2000"/>
            </a:lvl7pPr>
            <a:lvl8pPr marL="3200320" indent="0" algn="ctr">
              <a:buNone/>
              <a:defRPr sz="2000"/>
            </a:lvl8pPr>
            <a:lvl9pPr marL="3657509" indent="0" algn="ctr">
              <a:buNone/>
              <a:defRPr sz="20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AE59D9A8-92A6-6A4A-8096-8BF227C53793}" type="datetime1">
              <a:rPr lang="en-GB" smtClean="0"/>
              <a:t>16/11/2025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4" y="4289334"/>
            <a:ext cx="1193868" cy="640080"/>
          </a:xfrm>
        </p:spPr>
        <p:txBody>
          <a:bodyPr/>
          <a:lstStyle>
            <a:lvl1pPr>
              <a:defRPr sz="2800"/>
            </a:lvl1pPr>
          </a:lstStyle>
          <a:p>
            <a:fld id="{9860EDB8-5305-433F-BE41-D7A86D811DB3}" type="slidenum">
              <a:rPr lang="en-US" smtClean="0"/>
              <a:pPr/>
              <a:t>‹#›</a:t>
            </a:fld>
            <a:endParaRPr lang="en-US"/>
          </a:p>
        </p:txBody>
      </p:sp>
    </p:spTree>
    <p:extLst>
      <p:ext uri="{BB962C8B-B14F-4D97-AF65-F5344CB8AC3E}">
        <p14:creationId xmlns:p14="http://schemas.microsoft.com/office/powerpoint/2010/main" val="24014572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3EF2B12C-012A-734C-8B2E-9ADA4488B100}" type="datetime1">
              <a:rPr lang="en-GB" smtClean="0"/>
              <a:t>16/11/2025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pPr/>
              <a:t>‹#›</a:t>
            </a:fld>
            <a:endParaRPr lang="en-US"/>
          </a:p>
        </p:txBody>
      </p:sp>
    </p:spTree>
    <p:extLst>
      <p:ext uri="{BB962C8B-B14F-4D97-AF65-F5344CB8AC3E}">
        <p14:creationId xmlns:p14="http://schemas.microsoft.com/office/powerpoint/2010/main" val="10921715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GB"/>
              <a:t>Click to edit Master title style</a:t>
            </a:r>
            <a:endParaRPr lang="en-US"/>
          </a:p>
        </p:txBody>
      </p:sp>
      <p:sp>
        <p:nvSpPr>
          <p:cNvPr id="3" name="Text Placeholder 2"/>
          <p:cNvSpPr>
            <a:spLocks noGrp="1"/>
          </p:cNvSpPr>
          <p:nvPr>
            <p:ph type="body" idx="1"/>
          </p:nvPr>
        </p:nvSpPr>
        <p:spPr>
          <a:xfrm>
            <a:off x="2165773" y="5020056"/>
            <a:ext cx="9052560" cy="1066800"/>
          </a:xfrm>
        </p:spPr>
        <p:txBody>
          <a:bodyPr anchor="t">
            <a:normAutofit/>
          </a:bodyPr>
          <a:lstStyle>
            <a:lvl1pPr marL="0" indent="0">
              <a:buNone/>
              <a:defRPr sz="2000">
                <a:solidFill>
                  <a:schemeClr val="tx1"/>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8593668" y="6272786"/>
            <a:ext cx="2644309" cy="365125"/>
          </a:xfrm>
        </p:spPr>
        <p:txBody>
          <a:bodyPr/>
          <a:lstStyle/>
          <a:p>
            <a:fld id="{E2713C4B-4028-E547-871C-5217DE9D24F8}" type="datetime1">
              <a:rPr lang="en-GB" smtClean="0"/>
              <a:t>16/11/2025</a:t>
            </a:fld>
            <a:endParaRPr lang="en-US"/>
          </a:p>
        </p:txBody>
      </p:sp>
      <p:sp>
        <p:nvSpPr>
          <p:cNvPr id="5" name="Footer Placeholder 4"/>
          <p:cNvSpPr>
            <a:spLocks noGrp="1"/>
          </p:cNvSpPr>
          <p:nvPr>
            <p:ph type="ftr" sz="quarter" idx="11"/>
          </p:nvPr>
        </p:nvSpPr>
        <p:spPr>
          <a:xfrm>
            <a:off x="2182708" y="6272786"/>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12"/>
          </p:nvPr>
        </p:nvSpPr>
        <p:spPr>
          <a:xfrm>
            <a:off x="843701" y="2506133"/>
            <a:ext cx="1188299" cy="720332"/>
          </a:xfrm>
        </p:spPr>
        <p:txBody>
          <a:bodyPr/>
          <a:lstStyle>
            <a:lvl1pPr>
              <a:defRPr sz="2800"/>
            </a:lvl1pPr>
          </a:lstStyle>
          <a:p>
            <a:fld id="{9860EDB8-5305-433F-BE41-D7A86D811DB3}" type="slidenum">
              <a:rPr lang="en-US" smtClean="0"/>
              <a:pPr/>
              <a:t>‹#›</a:t>
            </a:fld>
            <a:endParaRPr lang="en-US"/>
          </a:p>
        </p:txBody>
      </p:sp>
    </p:spTree>
    <p:extLst>
      <p:ext uri="{BB962C8B-B14F-4D97-AF65-F5344CB8AC3E}">
        <p14:creationId xmlns:p14="http://schemas.microsoft.com/office/powerpoint/2010/main" val="39903656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5F7CF538-43F9-C048-8687-0F3ACAC6212A}" type="datetime1">
              <a:rPr lang="en-GB" smtClean="0"/>
              <a:t>16/11/2025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60EDB8-5305-433F-BE41-D7A86D811DB3}" type="slidenum">
              <a:rPr lang="en-US" smtClean="0"/>
              <a:pPr/>
              <a:t>‹#›</a:t>
            </a:fld>
            <a:endParaRPr lang="en-US"/>
          </a:p>
        </p:txBody>
      </p:sp>
    </p:spTree>
    <p:extLst>
      <p:ext uri="{BB962C8B-B14F-4D97-AF65-F5344CB8AC3E}">
        <p14:creationId xmlns:p14="http://schemas.microsoft.com/office/powerpoint/2010/main" val="24626689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22468153-EC3F-B94D-B5DD-524DD53CCCF3}" type="datetime1">
              <a:rPr lang="en-GB" smtClean="0"/>
              <a:t>16/11/2025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860EDB8-5305-433F-BE41-D7A86D811DB3}" type="slidenum">
              <a:rPr lang="en-US" smtClean="0"/>
              <a:pPr/>
              <a:t>‹#›</a:t>
            </a:fld>
            <a:endParaRPr lang="en-US"/>
          </a:p>
        </p:txBody>
      </p:sp>
      <p:sp>
        <p:nvSpPr>
          <p:cNvPr id="10" name="Title 9"/>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34578077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0BB1E88E-F37F-BA47-BE6B-FF4AD49BC130}" type="datetime1">
              <a:rPr lang="en-GB" smtClean="0"/>
              <a:t>16/11/2025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860EDB8-5305-433F-BE41-D7A86D811DB3}" type="slidenum">
              <a:rPr lang="en-US" smtClean="0"/>
              <a:pPr/>
              <a:t>‹#›</a:t>
            </a:fld>
            <a:endParaRPr lang="en-US"/>
          </a:p>
        </p:txBody>
      </p:sp>
      <p:sp>
        <p:nvSpPr>
          <p:cNvPr id="6" name="Title 5"/>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35847879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C8F103-D5EC-FB42-A8AB-742307FA163F}" type="datetime1">
              <a:rPr lang="en-GB" smtClean="0"/>
              <a:t>16/11/2025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860EDB8-5305-433F-BE41-D7A86D811DB3}" type="slidenum">
              <a:rPr lang="en-US" smtClean="0"/>
              <a:pPr/>
              <a:t>‹#›</a:t>
            </a:fld>
            <a:endParaRPr lang="en-US"/>
          </a:p>
        </p:txBody>
      </p:sp>
    </p:spTree>
    <p:extLst>
      <p:ext uri="{BB962C8B-B14F-4D97-AF65-F5344CB8AC3E}">
        <p14:creationId xmlns:p14="http://schemas.microsoft.com/office/powerpoint/2010/main" val="4119217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1" y="1"/>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GB"/>
              <a:t>Click to edit Master title style</a:t>
            </a:r>
            <a:endParaRPr lang="en-US"/>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3C482228-52EF-1141-B0BB-0AD14A0EE398}" type="datetime1">
              <a:rPr lang="en-GB" smtClean="0"/>
              <a:t>16/11/2025</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Rockwell Extra Bold" pitchFamily="18" charset="0"/>
                <a:ea typeface="+mn-ea"/>
                <a:cs typeface="+mn-cs"/>
              </a:endParaRPr>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9860EDB8-5305-433F-BE41-D7A86D811DB3}" type="slidenum">
              <a:rPr lang="en-US" smtClean="0"/>
              <a:pPr/>
              <a:t>‹#›</a:t>
            </a:fld>
            <a:endParaRPr lang="en-US"/>
          </a:p>
        </p:txBody>
      </p:sp>
    </p:spTree>
    <p:extLst>
      <p:ext uri="{BB962C8B-B14F-4D97-AF65-F5344CB8AC3E}">
        <p14:creationId xmlns:p14="http://schemas.microsoft.com/office/powerpoint/2010/main" val="9317178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1" y="1"/>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GB"/>
              <a:t>Click to edit Master title style</a:t>
            </a:r>
            <a:endParaRPr lang="en-US"/>
          </a:p>
        </p:txBody>
      </p:sp>
      <p:sp>
        <p:nvSpPr>
          <p:cNvPr id="3" name="Picture Placeholder 2"/>
          <p:cNvSpPr>
            <a:spLocks noGrp="1"/>
          </p:cNvSpPr>
          <p:nvPr>
            <p:ph type="pic" idx="1"/>
          </p:nvPr>
        </p:nvSpPr>
        <p:spPr>
          <a:xfrm>
            <a:off x="1" y="0"/>
            <a:ext cx="8303740" cy="6858000"/>
          </a:xfrm>
          <a:solidFill>
            <a:schemeClr val="tx2">
              <a:lumMod val="20000"/>
              <a:lumOff val="80000"/>
            </a:schemeClr>
          </a:solidFill>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GB"/>
              <a:t>Click icon to add picture</a:t>
            </a:r>
            <a:endParaRPr lang="en-US"/>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8CB1D069-C0B9-7D4A-BD9D-B2A56E33106A}" type="datetime1">
              <a:rPr lang="en-GB" smtClean="0"/>
              <a:t>16/11/2025</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9860EDB8-5305-433F-BE41-D7A86D811DB3}" type="slidenum">
              <a:rPr lang="en-US" smtClean="0"/>
              <a:pPr/>
              <a:t>‹#›</a:t>
            </a:fld>
            <a:endParaRPr lang="en-US"/>
          </a:p>
        </p:txBody>
      </p:sp>
    </p:spTree>
    <p:extLst>
      <p:ext uri="{BB962C8B-B14F-4D97-AF65-F5344CB8AC3E}">
        <p14:creationId xmlns:p14="http://schemas.microsoft.com/office/powerpoint/2010/main" val="18747129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D81DF993-719A-1D49-AB5F-C05D789689DA}" type="datetime1">
              <a:rPr lang="en-GB" smtClean="0"/>
              <a:t>16/11/2025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pPr/>
              <a:t>‹#›</a:t>
            </a:fld>
            <a:endParaRPr lang="en-US"/>
          </a:p>
        </p:txBody>
      </p:sp>
    </p:spTree>
    <p:extLst>
      <p:ext uri="{BB962C8B-B14F-4D97-AF65-F5344CB8AC3E}">
        <p14:creationId xmlns:p14="http://schemas.microsoft.com/office/powerpoint/2010/main" val="38255157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032FFD4-0ACC-0F4E-8EB1-31E6A90A6EF5}" type="datetime1">
              <a:rPr lang="en-GB" smtClean="0"/>
              <a:t>16/11/2025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pPr/>
              <a:t>‹#›</a:t>
            </a:fld>
            <a:endParaRPr lang="en-US"/>
          </a:p>
        </p:txBody>
      </p:sp>
    </p:spTree>
    <p:extLst>
      <p:ext uri="{BB962C8B-B14F-4D97-AF65-F5344CB8AC3E}">
        <p14:creationId xmlns:p14="http://schemas.microsoft.com/office/powerpoint/2010/main" val="40318863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7" name="Rectangle 6"/>
          <p:cNvSpPr/>
          <p:nvPr/>
        </p:nvSpPr>
        <p:spPr>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42220588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microsoft.com/office/2007/relationships/hdphoto" Target="../media/hdphoto1.wdp"/><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7964424" y="6272786"/>
            <a:ext cx="3273552" cy="365125"/>
          </a:xfrm>
          <a:prstGeom prst="rect">
            <a:avLst/>
          </a:prstGeom>
        </p:spPr>
        <p:txBody>
          <a:bodyPr vert="horz" lIns="91440" tIns="45720" rIns="91440" bIns="45720" rtlCol="0" anchor="ctr"/>
          <a:lstStyle>
            <a:lvl1pPr algn="r">
              <a:defRPr sz="1100">
                <a:solidFill>
                  <a:schemeClr val="tx2"/>
                </a:solidFill>
              </a:defRPr>
            </a:lvl1pPr>
          </a:lstStyle>
          <a:p>
            <a:fld id="{D5F7413A-D2FE-AD48-A6A5-A380A29A4B8C}" type="datetime1">
              <a:rPr lang="en-GB" smtClean="0"/>
              <a:t>16/11/2025</a:t>
            </a:fld>
            <a:endParaRPr lang="en-US"/>
          </a:p>
        </p:txBody>
      </p:sp>
      <p:sp>
        <p:nvSpPr>
          <p:cNvPr id="5" name="Footer Placeholder 4"/>
          <p:cNvSpPr>
            <a:spLocks noGrp="1"/>
          </p:cNvSpPr>
          <p:nvPr>
            <p:ph type="ftr" sz="quarter" idx="3"/>
          </p:nvPr>
        </p:nvSpPr>
        <p:spPr>
          <a:xfrm>
            <a:off x="1088136" y="6272786"/>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4">
                <a:duotone>
                  <a:schemeClr val="accent1">
                    <a:shade val="45000"/>
                    <a:satMod val="135000"/>
                  </a:schemeClr>
                  <a:prstClr val="white"/>
                </a:duotone>
                <a:extLst>
                  <a:ext uri="{BEBA8EAE-BF5A-486C-A8C5-ECC9F3942E4B}">
                    <a14:imgProps xmlns:a14="http://schemas.microsoft.com/office/drawing/2010/main">
                      <a14:imgLayer r:embed="rId1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Rockwell Extra Bold" pitchFamily="18" charset="0"/>
                <a:ea typeface="+mn-ea"/>
                <a:cs typeface="+mn-cs"/>
              </a:endParaRPr>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4"/>
          </p:nvPr>
        </p:nvSpPr>
        <p:spPr>
          <a:xfrm>
            <a:off x="11311128" y="6272786"/>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9860EDB8-5305-433F-BE41-D7A86D811DB3}" type="slidenum">
              <a:rPr lang="en-US" smtClean="0"/>
              <a:pPr/>
              <a:t>‹#›</a:t>
            </a:fld>
            <a:endParaRPr lang="en-US"/>
          </a:p>
        </p:txBody>
      </p:sp>
    </p:spTree>
    <p:extLst>
      <p:ext uri="{BB962C8B-B14F-4D97-AF65-F5344CB8AC3E}">
        <p14:creationId xmlns:p14="http://schemas.microsoft.com/office/powerpoint/2010/main" val="219095128"/>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 id="2147483792" r:id="rId12"/>
  </p:sldLayoutIdLst>
  <p:hf hdr="0" ftr="0" dt="0"/>
  <p:txStyles>
    <p:titleStyle>
      <a:lvl1pPr algn="l" defTabSz="914377" rtl="0" eaLnBrk="1" latinLnBrk="0" hangingPunct="1">
        <a:lnSpc>
          <a:spcPct val="90000"/>
        </a:lnSpc>
        <a:spcBef>
          <a:spcPct val="0"/>
        </a:spcBef>
        <a:buNone/>
        <a:defRPr sz="5400" kern="1200" cap="all" baseline="0">
          <a:blipFill>
            <a:blip r:embed="rId16">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75" indent="-182875" algn="l" defTabSz="914377"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189" indent="-182875" algn="l" defTabSz="914377"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02" indent="-182875" algn="l" defTabSz="914377"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15" indent="-182875" algn="l" defTabSz="914377"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28" indent="-182875" algn="l" defTabSz="914377"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599960" indent="-228594" algn="l" defTabSz="914377"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899953" indent="-228594" algn="l" defTabSz="914377"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199945" indent="-228594" algn="l" defTabSz="914377"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499938" indent="-228594" algn="l" defTabSz="914377"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microsoft.com/office/2007/relationships/hdphoto" Target="../media/hdphoto1.wdp"/><Relationship Id="rId5" Type="http://schemas.openxmlformats.org/officeDocument/2006/relationships/image" Target="../media/image3.png"/><Relationship Id="rId4" Type="http://schemas.microsoft.com/office/2007/relationships/hdphoto" Target="../media/hdphoto2.wdp"/></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25.svg"/><Relationship Id="rId13" Type="http://schemas.openxmlformats.org/officeDocument/2006/relationships/image" Target="../media/image3.png"/><Relationship Id="rId3" Type="http://schemas.openxmlformats.org/officeDocument/2006/relationships/diagramLayout" Target="../diagrams/layout1.xml"/><Relationship Id="rId7" Type="http://schemas.openxmlformats.org/officeDocument/2006/relationships/image" Target="../media/image24.png"/><Relationship Id="rId12" Type="http://schemas.openxmlformats.org/officeDocument/2006/relationships/image" Target="../media/image29.sv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openxmlformats.org/officeDocument/2006/relationships/image" Target="../media/image28.png"/><Relationship Id="rId5" Type="http://schemas.openxmlformats.org/officeDocument/2006/relationships/diagramColors" Target="../diagrams/colors1.xml"/><Relationship Id="rId10" Type="http://schemas.openxmlformats.org/officeDocument/2006/relationships/image" Target="../media/image27.svg"/><Relationship Id="rId4" Type="http://schemas.openxmlformats.org/officeDocument/2006/relationships/diagramQuickStyle" Target="../diagrams/quickStyle1.xml"/><Relationship Id="rId9"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 name="Rectangle 51">
            <a:extLst>
              <a:ext uri="{FF2B5EF4-FFF2-40B4-BE49-F238E27FC236}">
                <a16:creationId xmlns:a16="http://schemas.microsoft.com/office/drawing/2014/main" id="{9A3D0CE2-91FF-49B3-A5D8-181E900D7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346946"/>
            <a:ext cx="10222992" cy="80683"/>
          </a:xfrm>
          <a:prstGeom prst="rect">
            <a:avLst/>
          </a:prstGeom>
          <a:blipFill dpi="0" rotWithShape="1">
            <a:blip r:embed="rId3">
              <a:alphaModFix amt="85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noProof="0"/>
          </a:p>
        </p:txBody>
      </p:sp>
      <p:sp>
        <p:nvSpPr>
          <p:cNvPr id="53" name="Rectangle 52">
            <a:extLst>
              <a:ext uri="{FF2B5EF4-FFF2-40B4-BE49-F238E27FC236}">
                <a16:creationId xmlns:a16="http://schemas.microsoft.com/office/drawing/2014/main" id="{58AEBD96-C315-4F53-9D9E-0E20E993E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4299696"/>
            <a:ext cx="10222992" cy="80683"/>
          </a:xfrm>
          <a:prstGeom prst="rect">
            <a:avLst/>
          </a:prstGeom>
          <a:blipFill dpi="0" rotWithShape="1">
            <a:blip r:embed="rId3">
              <a:alphaModFix amt="85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noProof="0"/>
          </a:p>
        </p:txBody>
      </p:sp>
      <p:sp>
        <p:nvSpPr>
          <p:cNvPr id="54" name="Rectangle 53">
            <a:extLst>
              <a:ext uri="{FF2B5EF4-FFF2-40B4-BE49-F238E27FC236}">
                <a16:creationId xmlns:a16="http://schemas.microsoft.com/office/drawing/2014/main" id="{78916AAA-66F6-4DFA-88ED-7E27CF6B8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484779"/>
            <a:ext cx="10222992" cy="2743200"/>
          </a:xfrm>
          <a:prstGeom prst="rect">
            <a:avLst/>
          </a:prstGeom>
          <a:blipFill dpi="0" rotWithShape="1">
            <a:blip r:embed="rId3">
              <a:alphaModFix amt="85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noProof="0"/>
          </a:p>
        </p:txBody>
      </p:sp>
      <p:grpSp>
        <p:nvGrpSpPr>
          <p:cNvPr id="55" name="Group 54">
            <a:extLst>
              <a:ext uri="{FF2B5EF4-FFF2-40B4-BE49-F238E27FC236}">
                <a16:creationId xmlns:a16="http://schemas.microsoft.com/office/drawing/2014/main" id="{A137D43F-BAD6-47F1-AA65-AEEA38A2FF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9215" y="4068923"/>
            <a:ext cx="1080904" cy="1080902"/>
            <a:chOff x="9685338" y="4460675"/>
            <a:chExt cx="1080904" cy="1080902"/>
          </a:xfrm>
        </p:grpSpPr>
        <p:sp>
          <p:nvSpPr>
            <p:cNvPr id="56" name="Oval 55">
              <a:extLst>
                <a:ext uri="{FF2B5EF4-FFF2-40B4-BE49-F238E27FC236}">
                  <a16:creationId xmlns:a16="http://schemas.microsoft.com/office/drawing/2014/main" id="{D512C9B2-6B22-4211-A940-FCD7C2CD0B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5">
                <a:duotone>
                  <a:schemeClr val="accent1">
                    <a:shade val="45000"/>
                    <a:satMod val="135000"/>
                  </a:schemeClr>
                  <a:prstClr val="white"/>
                </a:duotone>
                <a:extLst>
                  <a:ext uri="{BEBA8EAE-BF5A-486C-A8C5-ECC9F3942E4B}">
                    <a14:imgProps xmlns:a14="http://schemas.microsoft.com/office/drawing/2010/main">
                      <a14:imgLayer r:embed="rId6">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GB" noProof="0"/>
            </a:p>
          </p:txBody>
        </p:sp>
        <p:sp>
          <p:nvSpPr>
            <p:cNvPr id="57" name="Oval 56">
              <a:extLst>
                <a:ext uri="{FF2B5EF4-FFF2-40B4-BE49-F238E27FC236}">
                  <a16:creationId xmlns:a16="http://schemas.microsoft.com/office/drawing/2014/main" id="{85F7DB84-CDE7-46F8-90DD-9D048A7D52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GB" noProof="0"/>
            </a:p>
          </p:txBody>
        </p:sp>
      </p:grpSp>
      <p:sp useBgFill="1">
        <p:nvSpPr>
          <p:cNvPr id="58" name="Rectangle 57">
            <a:extLst>
              <a:ext uri="{FF2B5EF4-FFF2-40B4-BE49-F238E27FC236}">
                <a16:creationId xmlns:a16="http://schemas.microsoft.com/office/drawing/2014/main" id="{68C84B8E-16E8-4E54-B4AC-84CE51595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noProof="0"/>
          </a:p>
        </p:txBody>
      </p:sp>
      <p:sp>
        <p:nvSpPr>
          <p:cNvPr id="2" name="Title 1"/>
          <p:cNvSpPr>
            <a:spLocks noGrp="1"/>
          </p:cNvSpPr>
          <p:nvPr>
            <p:ph type="ctrTitle" idx="4294967295"/>
          </p:nvPr>
        </p:nvSpPr>
        <p:spPr>
          <a:xfrm>
            <a:off x="1051560" y="1110054"/>
            <a:ext cx="6558608" cy="4580300"/>
          </a:xfrm>
        </p:spPr>
        <p:txBody>
          <a:bodyPr vert="horz" lIns="91440" tIns="45720" rIns="91440" bIns="45720" rtlCol="0" anchor="ctr">
            <a:normAutofit/>
          </a:bodyPr>
          <a:lstStyle/>
          <a:p>
            <a:pPr algn="r" defTabSz="914400">
              <a:lnSpc>
                <a:spcPct val="80000"/>
              </a:lnSpc>
            </a:pPr>
            <a:r>
              <a:rPr lang="en-GB" sz="8800" noProof="0">
                <a:blipFill dpi="0" rotWithShape="1">
                  <a:blip r:embed="rId5"/>
                  <a:srcRect/>
                  <a:tile tx="6350" ty="-127000" sx="65000" sy="64000" flip="none" algn="tl"/>
                </a:blipFill>
              </a:rPr>
              <a:t>Beyond </a:t>
            </a:r>
            <a:br>
              <a:rPr lang="en-GB" sz="8800" noProof="0">
                <a:blipFill dpi="0" rotWithShape="1">
                  <a:blip r:embed="rId5"/>
                  <a:srcRect/>
                  <a:tile tx="6350" ty="-127000" sx="65000" sy="64000" flip="none" algn="tl"/>
                </a:blipFill>
              </a:rPr>
            </a:br>
            <a:r>
              <a:rPr lang="en-GB" sz="8800" noProof="0">
                <a:blipFill dpi="0" rotWithShape="1">
                  <a:blip r:embed="rId5"/>
                  <a:srcRect/>
                  <a:tile tx="6350" ty="-127000" sx="65000" sy="64000" flip="none" algn="tl"/>
                </a:blipFill>
              </a:rPr>
              <a:t>the Buy Button</a:t>
            </a:r>
          </a:p>
        </p:txBody>
      </p:sp>
      <p:sp>
        <p:nvSpPr>
          <p:cNvPr id="59" name="Rectangle 58">
            <a:extLst>
              <a:ext uri="{FF2B5EF4-FFF2-40B4-BE49-F238E27FC236}">
                <a16:creationId xmlns:a16="http://schemas.microsoft.com/office/drawing/2014/main" id="{ECE9EEEA-5DB7-4DC7-AF9F-74D1C19B7E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928117"/>
            <a:ext cx="10351008" cy="80683"/>
          </a:xfrm>
          <a:prstGeom prst="rect">
            <a:avLst/>
          </a:prstGeom>
          <a:blipFill dpi="0" rotWithShape="1">
            <a:blip r:embed="rId3">
              <a:alphaModFix amt="85000"/>
              <a:lum bright="70000" contrast="-70000"/>
              <a:extLs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0" name="Rectangle 59">
            <a:extLst>
              <a:ext uri="{FF2B5EF4-FFF2-40B4-BE49-F238E27FC236}">
                <a16:creationId xmlns:a16="http://schemas.microsoft.com/office/drawing/2014/main" id="{DF199147-B958-49C0-9BE2-65BDD892F2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85470" y="1110053"/>
            <a:ext cx="3386371" cy="4580301"/>
          </a:xfrm>
          <a:prstGeom prst="rect">
            <a:avLst/>
          </a:prstGeom>
          <a:blipFill dpi="0" rotWithShape="1">
            <a:blip r:embed="rId3">
              <a:alphaModFix amt="85000"/>
              <a:lum bright="70000" contrast="-70000"/>
              <a:extLs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3" name="Subtitle 2"/>
          <p:cNvSpPr>
            <a:spLocks noGrp="1"/>
          </p:cNvSpPr>
          <p:nvPr>
            <p:ph type="subTitle" idx="4294967295"/>
          </p:nvPr>
        </p:nvSpPr>
        <p:spPr>
          <a:xfrm>
            <a:off x="8091947" y="1678210"/>
            <a:ext cx="2989007" cy="3443988"/>
          </a:xfrm>
        </p:spPr>
        <p:txBody>
          <a:bodyPr vert="horz" lIns="91440" tIns="45720" rIns="91440" bIns="45720" rtlCol="0" anchor="ctr">
            <a:normAutofit/>
          </a:bodyPr>
          <a:lstStyle/>
          <a:p>
            <a:pPr marL="0" indent="0" defTabSz="914400">
              <a:buNone/>
            </a:pPr>
            <a:r>
              <a:rPr lang="en-GB" noProof="0">
                <a:solidFill>
                  <a:srgbClr val="000000"/>
                </a:solidFill>
              </a:rPr>
              <a:t>An operations and marketing analysis of </a:t>
            </a:r>
            <a:r>
              <a:rPr lang="en-GB" b="1" noProof="0" err="1">
                <a:solidFill>
                  <a:srgbClr val="000000"/>
                </a:solidFill>
              </a:rPr>
              <a:t>Olist</a:t>
            </a:r>
            <a:r>
              <a:rPr lang="en-GB" noProof="0">
                <a:solidFill>
                  <a:srgbClr val="000000"/>
                </a:solidFill>
              </a:rPr>
              <a:t> - Brazil’s leading e-commerce player</a:t>
            </a:r>
          </a:p>
        </p:txBody>
      </p:sp>
      <p:sp>
        <p:nvSpPr>
          <p:cNvPr id="61" name="Rectangle 60">
            <a:extLst>
              <a:ext uri="{FF2B5EF4-FFF2-40B4-BE49-F238E27FC236}">
                <a16:creationId xmlns:a16="http://schemas.microsoft.com/office/drawing/2014/main" id="{EF70505D-EC2C-4D1A-86DE-2583778074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5780565"/>
            <a:ext cx="10351008" cy="80683"/>
          </a:xfrm>
          <a:prstGeom prst="rect">
            <a:avLst/>
          </a:prstGeom>
          <a:blipFill dpi="0" rotWithShape="1">
            <a:blip r:embed="rId3">
              <a:alphaModFix amt="85000"/>
              <a:lum bright="70000" contrast="-70000"/>
              <a:extLs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nvGrpSpPr>
          <p:cNvPr id="62" name="Group 61">
            <a:extLst>
              <a:ext uri="{FF2B5EF4-FFF2-40B4-BE49-F238E27FC236}">
                <a16:creationId xmlns:a16="http://schemas.microsoft.com/office/drawing/2014/main" id="{2DF20BDF-18D7-4E94-9BA1-9CEB40470CB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6920" y="5257800"/>
            <a:ext cx="1080904" cy="1080902"/>
            <a:chOff x="9646920" y="5257800"/>
            <a:chExt cx="1080904" cy="1080902"/>
          </a:xfrm>
        </p:grpSpPr>
        <p:sp>
          <p:nvSpPr>
            <p:cNvPr id="63" name="Oval 62">
              <a:extLst>
                <a:ext uri="{FF2B5EF4-FFF2-40B4-BE49-F238E27FC236}">
                  <a16:creationId xmlns:a16="http://schemas.microsoft.com/office/drawing/2014/main" id="{98F42242-4089-4E5D-95C3-C113C73DA9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46920" y="5257800"/>
              <a:ext cx="1080904" cy="1080902"/>
            </a:xfrm>
            <a:prstGeom prst="ellipse">
              <a:avLst/>
            </a:prstGeom>
            <a:blipFill dpi="0" rotWithShape="1">
              <a:blip r:embed="rId5">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2000" b="0" i="0" u="none" strike="noStrike" kern="0" cap="none" spc="0" normalizeH="0" baseline="0" noProof="0">
                <a:ln>
                  <a:noFill/>
                </a:ln>
                <a:solidFill>
                  <a:prstClr val="white"/>
                </a:solidFill>
                <a:effectLst/>
                <a:uLnTx/>
                <a:uFillTx/>
                <a:latin typeface="Rockwell Extra Bold" pitchFamily="18" charset="0"/>
                <a:ea typeface="+mn-ea"/>
                <a:cs typeface="+mn-cs"/>
              </a:endParaRPr>
            </a:p>
          </p:txBody>
        </p:sp>
        <p:sp>
          <p:nvSpPr>
            <p:cNvPr id="29" name="Oval 28">
              <a:extLst>
                <a:ext uri="{FF2B5EF4-FFF2-40B4-BE49-F238E27FC236}">
                  <a16:creationId xmlns:a16="http://schemas.microsoft.com/office/drawing/2014/main" id="{796F87F1-ABB5-42FB-86BD-EED111CD33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55011" y="5365890"/>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a:ea typeface="+mn-ea"/>
                <a:cs typeface="+mn-cs"/>
              </a:endParaRPr>
            </a:p>
          </p:txBody>
        </p:sp>
      </p:grpSp>
      <p:sp>
        <p:nvSpPr>
          <p:cNvPr id="4" name="Rectangle 1">
            <a:extLst>
              <a:ext uri="{FF2B5EF4-FFF2-40B4-BE49-F238E27FC236}">
                <a16:creationId xmlns:a16="http://schemas.microsoft.com/office/drawing/2014/main" id="{61458F4C-9756-741C-C92D-AF13DF51D5D2}"/>
              </a:ext>
            </a:extLst>
          </p:cNvPr>
          <p:cNvSpPr txBox="1">
            <a:spLocks noChangeArrowheads="1"/>
          </p:cNvSpPr>
          <p:nvPr/>
        </p:nvSpPr>
        <p:spPr bwMode="auto">
          <a:xfrm>
            <a:off x="920834" y="5951459"/>
            <a:ext cx="5727616" cy="64936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eaLnBrk="0" fontAlgn="base" hangingPunct="0">
              <a:spcBef>
                <a:spcPct val="0"/>
              </a:spcBef>
              <a:spcAft>
                <a:spcPts val="600"/>
              </a:spcAft>
              <a:buClrTx/>
              <a:buSzTx/>
              <a:buNone/>
            </a:pPr>
            <a:r>
              <a:rPr lang="en-GB" sz="1600" noProof="0"/>
              <a:t>Study Group 8</a:t>
            </a:r>
          </a:p>
          <a:p>
            <a:pPr marL="0" indent="0" eaLnBrk="0" fontAlgn="base" hangingPunct="0">
              <a:spcBef>
                <a:spcPct val="0"/>
              </a:spcBef>
              <a:spcAft>
                <a:spcPts val="600"/>
              </a:spcAft>
              <a:buClrTx/>
              <a:buSzTx/>
              <a:buNone/>
            </a:pPr>
            <a:r>
              <a:rPr lang="en-GB" sz="1600" noProof="0"/>
              <a:t>AM10 AUT25 Data Visualisation and Story Telling</a:t>
            </a:r>
          </a:p>
        </p:txBody>
      </p:sp>
    </p:spTree>
    <p:extLst>
      <p:ext uri="{BB962C8B-B14F-4D97-AF65-F5344CB8AC3E}">
        <p14:creationId xmlns:p14="http://schemas.microsoft.com/office/powerpoint/2010/main" val="1615315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4880A-1D7B-EF18-0245-7A402F20CD58}"/>
            </a:ext>
          </a:extLst>
        </p:cNvPr>
        <p:cNvGrpSpPr/>
        <p:nvPr/>
      </p:nvGrpSpPr>
      <p:grpSpPr>
        <a:xfrm>
          <a:off x="0" y="0"/>
          <a:ext cx="0" cy="0"/>
          <a:chOff x="0" y="0"/>
          <a:chExt cx="0" cy="0"/>
        </a:xfrm>
      </p:grpSpPr>
      <p:sp>
        <p:nvSpPr>
          <p:cNvPr id="21" name="Rechteck: abgerundete Ecken 20">
            <a:extLst>
              <a:ext uri="{FF2B5EF4-FFF2-40B4-BE49-F238E27FC236}">
                <a16:creationId xmlns:a16="http://schemas.microsoft.com/office/drawing/2014/main" id="{920FBD05-DCAC-CFD6-ED58-383A6C7544BD}"/>
              </a:ext>
            </a:extLst>
          </p:cNvPr>
          <p:cNvSpPr/>
          <p:nvPr/>
        </p:nvSpPr>
        <p:spPr>
          <a:xfrm>
            <a:off x="2409824" y="4157436"/>
            <a:ext cx="7334251" cy="2230545"/>
          </a:xfrm>
          <a:prstGeom prst="roundRect">
            <a:avLst>
              <a:gd name="adj" fmla="val 11855"/>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2" name="Title 1">
            <a:extLst>
              <a:ext uri="{FF2B5EF4-FFF2-40B4-BE49-F238E27FC236}">
                <a16:creationId xmlns:a16="http://schemas.microsoft.com/office/drawing/2014/main" id="{720C1501-E627-38D2-1460-CAEFD0EA0E65}"/>
              </a:ext>
            </a:extLst>
          </p:cNvPr>
          <p:cNvSpPr>
            <a:spLocks noGrp="1"/>
          </p:cNvSpPr>
          <p:nvPr>
            <p:ph type="title"/>
          </p:nvPr>
        </p:nvSpPr>
        <p:spPr>
          <a:xfrm>
            <a:off x="515322" y="0"/>
            <a:ext cx="10058400" cy="1609344"/>
          </a:xfrm>
        </p:spPr>
        <p:txBody>
          <a:bodyPr>
            <a:normAutofit/>
          </a:bodyPr>
          <a:lstStyle/>
          <a:p>
            <a:r>
              <a:rPr lang="en-GB" noProof="0"/>
              <a:t>Background</a:t>
            </a:r>
          </a:p>
        </p:txBody>
      </p:sp>
      <p:sp>
        <p:nvSpPr>
          <p:cNvPr id="11" name="Rectangle 1">
            <a:extLst>
              <a:ext uri="{FF2B5EF4-FFF2-40B4-BE49-F238E27FC236}">
                <a16:creationId xmlns:a16="http://schemas.microsoft.com/office/drawing/2014/main" id="{7F9D9C84-D693-9DCD-31BF-D0008247A8FF}"/>
              </a:ext>
            </a:extLst>
          </p:cNvPr>
          <p:cNvSpPr txBox="1">
            <a:spLocks noChangeArrowheads="1"/>
          </p:cNvSpPr>
          <p:nvPr/>
        </p:nvSpPr>
        <p:spPr bwMode="auto">
          <a:xfrm>
            <a:off x="6235294" y="1611248"/>
            <a:ext cx="5219999" cy="3240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eaLnBrk="0" fontAlgn="base" hangingPunct="0">
              <a:spcBef>
                <a:spcPct val="0"/>
              </a:spcBef>
              <a:spcAft>
                <a:spcPts val="600"/>
              </a:spcAft>
              <a:buClrTx/>
              <a:buSzTx/>
              <a:buNone/>
            </a:pPr>
            <a:r>
              <a:rPr lang="en-GB" sz="1600" b="1" noProof="0"/>
              <a:t>Scenario</a:t>
            </a:r>
            <a:endParaRPr lang="en-GB" sz="1600" noProof="0"/>
          </a:p>
        </p:txBody>
      </p:sp>
      <p:sp>
        <p:nvSpPr>
          <p:cNvPr id="15" name="Rectangle 1">
            <a:extLst>
              <a:ext uri="{FF2B5EF4-FFF2-40B4-BE49-F238E27FC236}">
                <a16:creationId xmlns:a16="http://schemas.microsoft.com/office/drawing/2014/main" id="{BBC6B3DE-6C0E-A630-ABE5-16D4BC730BF6}"/>
              </a:ext>
            </a:extLst>
          </p:cNvPr>
          <p:cNvSpPr txBox="1">
            <a:spLocks noChangeArrowheads="1"/>
          </p:cNvSpPr>
          <p:nvPr/>
        </p:nvSpPr>
        <p:spPr bwMode="auto">
          <a:xfrm>
            <a:off x="515322" y="1612203"/>
            <a:ext cx="5220000" cy="3240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eaLnBrk="0" fontAlgn="base" hangingPunct="0">
              <a:spcBef>
                <a:spcPct val="0"/>
              </a:spcBef>
              <a:spcAft>
                <a:spcPts val="600"/>
              </a:spcAft>
              <a:buClrTx/>
              <a:buSzTx/>
              <a:buNone/>
            </a:pPr>
            <a:r>
              <a:rPr lang="en-GB" sz="1600" b="1" noProof="0"/>
              <a:t>Client Overview</a:t>
            </a:r>
          </a:p>
        </p:txBody>
      </p:sp>
      <p:sp>
        <p:nvSpPr>
          <p:cNvPr id="16" name="Content Placeholder 2">
            <a:extLst>
              <a:ext uri="{FF2B5EF4-FFF2-40B4-BE49-F238E27FC236}">
                <a16:creationId xmlns:a16="http://schemas.microsoft.com/office/drawing/2014/main" id="{68E9A490-7BEF-4D13-F2AE-31559E62E46E}"/>
              </a:ext>
            </a:extLst>
          </p:cNvPr>
          <p:cNvSpPr>
            <a:spLocks noGrp="1"/>
          </p:cNvSpPr>
          <p:nvPr>
            <p:ph idx="1"/>
          </p:nvPr>
        </p:nvSpPr>
        <p:spPr>
          <a:xfrm>
            <a:off x="1477348" y="2021623"/>
            <a:ext cx="4257974" cy="1804250"/>
          </a:xfrm>
        </p:spPr>
        <p:txBody>
          <a:bodyPr>
            <a:normAutofit/>
          </a:bodyPr>
          <a:lstStyle/>
          <a:p>
            <a:r>
              <a:rPr lang="en-GB" sz="1600" noProof="0"/>
              <a:t>Brazil‘s largest online marketplace aggregator</a:t>
            </a:r>
          </a:p>
          <a:p>
            <a:r>
              <a:rPr lang="en-GB" sz="1600" noProof="0"/>
              <a:t>Platform connecting small businesses to consumers</a:t>
            </a:r>
          </a:p>
          <a:p>
            <a:r>
              <a:rPr lang="en-GB" sz="1600" noProof="0"/>
              <a:t>Handles logistics and delivery fulfilment via a third party</a:t>
            </a:r>
          </a:p>
        </p:txBody>
      </p:sp>
      <p:sp>
        <p:nvSpPr>
          <p:cNvPr id="18" name="Content Placeholder 2">
            <a:extLst>
              <a:ext uri="{FF2B5EF4-FFF2-40B4-BE49-F238E27FC236}">
                <a16:creationId xmlns:a16="http://schemas.microsoft.com/office/drawing/2014/main" id="{3D4B36CE-693D-DF52-1549-BD943469CF6F}"/>
              </a:ext>
            </a:extLst>
          </p:cNvPr>
          <p:cNvSpPr txBox="1">
            <a:spLocks/>
          </p:cNvSpPr>
          <p:nvPr/>
        </p:nvSpPr>
        <p:spPr>
          <a:xfrm>
            <a:off x="6235294" y="2035906"/>
            <a:ext cx="5239051" cy="1789967"/>
          </a:xfrm>
          <a:prstGeom prst="rect">
            <a:avLst/>
          </a:prstGeom>
        </p:spPr>
        <p:txBody>
          <a:bodyPr vert="horz" lIns="91440" tIns="45720" rIns="91440" bIns="45720" rtlCol="0">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r>
              <a:rPr lang="en-GB" sz="1600" noProof="0"/>
              <a:t>After a period of strong growth, order volume has become stagnant</a:t>
            </a:r>
          </a:p>
          <a:p>
            <a:r>
              <a:rPr lang="en-GB" sz="1600" noProof="0"/>
              <a:t>As a startup, the business is struggling to achieve profitability and scale effectively</a:t>
            </a:r>
          </a:p>
          <a:p>
            <a:r>
              <a:rPr lang="en-GB" sz="1600" noProof="0"/>
              <a:t>Leadership has set an ambitious internal goal to triple revenue in the next 2 years</a:t>
            </a:r>
          </a:p>
        </p:txBody>
      </p:sp>
      <p:sp>
        <p:nvSpPr>
          <p:cNvPr id="19" name="Content Placeholder 2">
            <a:extLst>
              <a:ext uri="{FF2B5EF4-FFF2-40B4-BE49-F238E27FC236}">
                <a16:creationId xmlns:a16="http://schemas.microsoft.com/office/drawing/2014/main" id="{7D3B4FBC-536B-6AEE-39E8-8E2FAD4532FA}"/>
              </a:ext>
            </a:extLst>
          </p:cNvPr>
          <p:cNvSpPr txBox="1">
            <a:spLocks/>
          </p:cNvSpPr>
          <p:nvPr/>
        </p:nvSpPr>
        <p:spPr>
          <a:xfrm>
            <a:off x="3502851" y="4742376"/>
            <a:ext cx="6021411" cy="1654231"/>
          </a:xfrm>
          <a:prstGeom prst="rect">
            <a:avLst/>
          </a:prstGeom>
        </p:spPr>
        <p:txBody>
          <a:bodyPr vert="horz" lIns="91440" tIns="45720" rIns="91440" bIns="45720" rtlCol="0">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a:buNone/>
            </a:pPr>
            <a:r>
              <a:rPr lang="en-GB" sz="1600" b="1" noProof="0"/>
              <a:t>Objectives</a:t>
            </a:r>
            <a:r>
              <a:rPr lang="en-GB" sz="1600" noProof="0"/>
              <a:t>:</a:t>
            </a:r>
          </a:p>
          <a:p>
            <a:r>
              <a:rPr lang="en-GB" sz="1600" noProof="0"/>
              <a:t>to identify the most critical levers for growth</a:t>
            </a:r>
          </a:p>
          <a:p>
            <a:r>
              <a:rPr lang="en-GB" sz="1600" noProof="0"/>
              <a:t>to uncover key pain points of customers</a:t>
            </a:r>
          </a:p>
          <a:p>
            <a:r>
              <a:rPr lang="en-GB" sz="1600" noProof="0"/>
              <a:t>to provide strategic recommendations</a:t>
            </a:r>
          </a:p>
        </p:txBody>
      </p:sp>
      <p:pic>
        <p:nvPicPr>
          <p:cNvPr id="24" name="Grafik 23">
            <a:extLst>
              <a:ext uri="{FF2B5EF4-FFF2-40B4-BE49-F238E27FC236}">
                <a16:creationId xmlns:a16="http://schemas.microsoft.com/office/drawing/2014/main" id="{97265A22-3429-BA67-C431-4E41BE6B25E6}"/>
              </a:ext>
            </a:extLst>
          </p:cNvPr>
          <p:cNvPicPr>
            <a:picLocks noChangeAspect="1"/>
          </p:cNvPicPr>
          <p:nvPr/>
        </p:nvPicPr>
        <p:blipFill>
          <a:blip r:embed="rId2"/>
          <a:stretch>
            <a:fillRect/>
          </a:stretch>
        </p:blipFill>
        <p:spPr>
          <a:xfrm>
            <a:off x="2633507" y="5058187"/>
            <a:ext cx="649531" cy="649531"/>
          </a:xfrm>
          <a:prstGeom prst="rect">
            <a:avLst/>
          </a:prstGeom>
        </p:spPr>
      </p:pic>
      <p:sp>
        <p:nvSpPr>
          <p:cNvPr id="25" name="Content Placeholder 2">
            <a:extLst>
              <a:ext uri="{FF2B5EF4-FFF2-40B4-BE49-F238E27FC236}">
                <a16:creationId xmlns:a16="http://schemas.microsoft.com/office/drawing/2014/main" id="{A4A6058F-CEE7-CC39-B2C4-0DEC127C7417}"/>
              </a:ext>
            </a:extLst>
          </p:cNvPr>
          <p:cNvSpPr txBox="1">
            <a:spLocks/>
          </p:cNvSpPr>
          <p:nvPr/>
        </p:nvSpPr>
        <p:spPr>
          <a:xfrm>
            <a:off x="2633507" y="4344957"/>
            <a:ext cx="6821044" cy="499832"/>
          </a:xfrm>
          <a:prstGeom prst="rect">
            <a:avLst/>
          </a:prstGeom>
        </p:spPr>
        <p:txBody>
          <a:bodyPr vert="horz" lIns="91440" tIns="45720" rIns="91440" bIns="45720" rtlCol="0">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a:buNone/>
            </a:pPr>
            <a:r>
              <a:rPr lang="en-GB" sz="1600" b="1" noProof="0"/>
              <a:t>We have been hired to analyse </a:t>
            </a:r>
            <a:r>
              <a:rPr lang="en-GB" sz="1600" b="1" noProof="0" err="1"/>
              <a:t>Olist‘s</a:t>
            </a:r>
            <a:r>
              <a:rPr lang="en-GB" sz="1600" b="1" noProof="0"/>
              <a:t> end-to-end operational data. </a:t>
            </a:r>
          </a:p>
        </p:txBody>
      </p:sp>
      <p:pic>
        <p:nvPicPr>
          <p:cNvPr id="30" name="Grafik 29" descr="Ein Bild, das Electric Blue (Farbe), Schrift, Logo, Grafiken enthält.&#10;&#10;KI-generierte Inhalte können fehlerhaft sein.">
            <a:extLst>
              <a:ext uri="{FF2B5EF4-FFF2-40B4-BE49-F238E27FC236}">
                <a16:creationId xmlns:a16="http://schemas.microsoft.com/office/drawing/2014/main" id="{9076F372-10EB-8366-6EEF-EA4155CAD8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3422" y="2065787"/>
            <a:ext cx="828189" cy="828189"/>
          </a:xfrm>
          <a:prstGeom prst="rect">
            <a:avLst/>
          </a:prstGeom>
        </p:spPr>
      </p:pic>
      <p:cxnSp>
        <p:nvCxnSpPr>
          <p:cNvPr id="33" name="Gerader Verbinder 32">
            <a:extLst>
              <a:ext uri="{FF2B5EF4-FFF2-40B4-BE49-F238E27FC236}">
                <a16:creationId xmlns:a16="http://schemas.microsoft.com/office/drawing/2014/main" id="{AC46F0C0-659B-CA0A-4D57-77CE147F42C5}"/>
              </a:ext>
            </a:extLst>
          </p:cNvPr>
          <p:cNvCxnSpPr>
            <a:cxnSpLocks/>
          </p:cNvCxnSpPr>
          <p:nvPr/>
        </p:nvCxnSpPr>
        <p:spPr>
          <a:xfrm>
            <a:off x="515323" y="1935249"/>
            <a:ext cx="5220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305266B0-3826-5D18-DA45-EA718CABE4BC}"/>
              </a:ext>
            </a:extLst>
          </p:cNvPr>
          <p:cNvCxnSpPr>
            <a:cxnSpLocks/>
          </p:cNvCxnSpPr>
          <p:nvPr/>
        </p:nvCxnSpPr>
        <p:spPr>
          <a:xfrm>
            <a:off x="6235296" y="1935249"/>
            <a:ext cx="5220000"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79F65EF5-F3A5-B497-C720-88306E9A4AC5}"/>
              </a:ext>
            </a:extLst>
          </p:cNvPr>
          <p:cNvSpPr>
            <a:spLocks noGrp="1"/>
          </p:cNvSpPr>
          <p:nvPr>
            <p:ph type="sldNum" sz="quarter" idx="12"/>
          </p:nvPr>
        </p:nvSpPr>
        <p:spPr/>
        <p:txBody>
          <a:bodyPr/>
          <a:lstStyle/>
          <a:p>
            <a:r>
              <a:rPr lang="en-GB" noProof="0"/>
              <a:t>1</a:t>
            </a:r>
          </a:p>
        </p:txBody>
      </p:sp>
    </p:spTree>
    <p:extLst>
      <p:ext uri="{BB962C8B-B14F-4D97-AF65-F5344CB8AC3E}">
        <p14:creationId xmlns:p14="http://schemas.microsoft.com/office/powerpoint/2010/main" val="2416548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9CCCB-94A8-A5ED-70CC-4EB776918B0A}"/>
            </a:ext>
          </a:extLst>
        </p:cNvPr>
        <p:cNvGrpSpPr/>
        <p:nvPr/>
      </p:nvGrpSpPr>
      <p:grpSpPr>
        <a:xfrm>
          <a:off x="0" y="0"/>
          <a:ext cx="0" cy="0"/>
          <a:chOff x="0" y="0"/>
          <a:chExt cx="0" cy="0"/>
        </a:xfrm>
      </p:grpSpPr>
      <p:sp>
        <p:nvSpPr>
          <p:cNvPr id="10" name="Rechteck: abgerundete Ecken 9">
            <a:extLst>
              <a:ext uri="{FF2B5EF4-FFF2-40B4-BE49-F238E27FC236}">
                <a16:creationId xmlns:a16="http://schemas.microsoft.com/office/drawing/2014/main" id="{698626DA-0E8E-00BB-41A5-8C36CC6178E4}"/>
              </a:ext>
            </a:extLst>
          </p:cNvPr>
          <p:cNvSpPr/>
          <p:nvPr/>
        </p:nvSpPr>
        <p:spPr>
          <a:xfrm>
            <a:off x="5778381" y="1473200"/>
            <a:ext cx="5664343" cy="781051"/>
          </a:xfrm>
          <a:prstGeom prst="roundRect">
            <a:avLst>
              <a:gd name="adj" fmla="val 21611"/>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pic>
        <p:nvPicPr>
          <p:cNvPr id="4" name="Grafik 3" descr="Ein Bild, das Text, Screenshot, Diagramm, Schrift enthält.&#10;&#10;KI-generierte Inhalte können fehlerhaft sein.">
            <a:extLst>
              <a:ext uri="{FF2B5EF4-FFF2-40B4-BE49-F238E27FC236}">
                <a16:creationId xmlns:a16="http://schemas.microsoft.com/office/drawing/2014/main" id="{C17D18EA-33A1-A3B0-DEFC-97DFE47F0E14}"/>
              </a:ext>
            </a:extLst>
          </p:cNvPr>
          <p:cNvPicPr>
            <a:picLocks noChangeAspect="1"/>
          </p:cNvPicPr>
          <p:nvPr/>
        </p:nvPicPr>
        <p:blipFill>
          <a:blip r:embed="rId2">
            <a:extLst>
              <a:ext uri="{28A0092B-C50C-407E-A947-70E740481C1C}">
                <a14:useLocalDpi xmlns:a14="http://schemas.microsoft.com/office/drawing/2010/main" val="0"/>
              </a:ext>
            </a:extLst>
          </a:blip>
          <a:srcRect l="31975" b="48889"/>
          <a:stretch>
            <a:fillRect/>
          </a:stretch>
        </p:blipFill>
        <p:spPr>
          <a:xfrm>
            <a:off x="515322" y="1400461"/>
            <a:ext cx="4981983" cy="4857976"/>
          </a:xfrm>
          <a:prstGeom prst="rect">
            <a:avLst/>
          </a:prstGeom>
        </p:spPr>
      </p:pic>
      <p:sp>
        <p:nvSpPr>
          <p:cNvPr id="5" name="Content Placeholder 2">
            <a:extLst>
              <a:ext uri="{FF2B5EF4-FFF2-40B4-BE49-F238E27FC236}">
                <a16:creationId xmlns:a16="http://schemas.microsoft.com/office/drawing/2014/main" id="{9417D940-1962-0634-D277-62998C2BAA3E}"/>
              </a:ext>
            </a:extLst>
          </p:cNvPr>
          <p:cNvSpPr>
            <a:spLocks noGrp="1"/>
          </p:cNvSpPr>
          <p:nvPr>
            <p:ph idx="1"/>
          </p:nvPr>
        </p:nvSpPr>
        <p:spPr>
          <a:xfrm>
            <a:off x="5871420" y="1605968"/>
            <a:ext cx="5269736" cy="651659"/>
          </a:xfrm>
        </p:spPr>
        <p:txBody>
          <a:bodyPr>
            <a:normAutofit/>
          </a:bodyPr>
          <a:lstStyle/>
          <a:p>
            <a:pPr marL="0" indent="0">
              <a:buNone/>
            </a:pPr>
            <a:r>
              <a:rPr lang="en-GB" sz="1600" noProof="0"/>
              <a:t>We are analysing a comprehensive dataset (publicly provided by </a:t>
            </a:r>
            <a:r>
              <a:rPr lang="en-GB" sz="1600" noProof="0" err="1"/>
              <a:t>Olist</a:t>
            </a:r>
            <a:r>
              <a:rPr lang="en-GB" sz="1600" noProof="0"/>
              <a:t>) containing over 100,000 orders.</a:t>
            </a:r>
          </a:p>
        </p:txBody>
      </p:sp>
      <p:sp>
        <p:nvSpPr>
          <p:cNvPr id="9" name="Content Placeholder 2">
            <a:extLst>
              <a:ext uri="{FF2B5EF4-FFF2-40B4-BE49-F238E27FC236}">
                <a16:creationId xmlns:a16="http://schemas.microsoft.com/office/drawing/2014/main" id="{498FC0DB-6FCD-0B99-DC57-F1358CB0EECF}"/>
              </a:ext>
            </a:extLst>
          </p:cNvPr>
          <p:cNvSpPr txBox="1">
            <a:spLocks/>
          </p:cNvSpPr>
          <p:nvPr/>
        </p:nvSpPr>
        <p:spPr>
          <a:xfrm>
            <a:off x="5744361" y="2448962"/>
            <a:ext cx="5269735" cy="3809475"/>
          </a:xfrm>
          <a:prstGeom prst="rect">
            <a:avLst/>
          </a:prstGeom>
        </p:spPr>
        <p:txBody>
          <a:bodyPr vert="horz" lIns="91440" tIns="45720" rIns="91440" bIns="45720" rtlCol="0" anchor="t">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a:spcAft>
                <a:spcPts val="600"/>
              </a:spcAft>
              <a:buNone/>
            </a:pPr>
            <a:r>
              <a:rPr lang="en-GB" sz="1600" b="1" noProof="0"/>
              <a:t>Methodology:</a:t>
            </a:r>
          </a:p>
          <a:p>
            <a:pPr marL="342265" indent="-342265">
              <a:spcAft>
                <a:spcPts val="600"/>
              </a:spcAft>
              <a:buFont typeface="+mj-lt"/>
              <a:buAutoNum type="arabicPeriod"/>
            </a:pPr>
            <a:r>
              <a:rPr lang="en-GB" sz="1600" b="1" noProof="0"/>
              <a:t>Database construction</a:t>
            </a:r>
            <a:r>
              <a:rPr lang="en-GB" sz="1600" noProof="0"/>
              <a:t>: We first structured the 7 raw data tables into a relational database using </a:t>
            </a:r>
            <a:r>
              <a:rPr lang="en-GB" sz="1600" noProof="0" err="1"/>
              <a:t>DBeaver</a:t>
            </a:r>
            <a:endParaRPr lang="en-GB" sz="1600" noProof="0"/>
          </a:p>
          <a:p>
            <a:pPr marL="342265" indent="-342265">
              <a:spcAft>
                <a:spcPts val="600"/>
              </a:spcAft>
              <a:buFont typeface="+mj-lt"/>
              <a:buAutoNum type="arabicPeriod"/>
            </a:pPr>
            <a:r>
              <a:rPr lang="en-GB" sz="1600" b="1" noProof="0"/>
              <a:t>Data cleaning</a:t>
            </a:r>
            <a:r>
              <a:rPr lang="en-GB" sz="1600" noProof="0"/>
              <a:t>: We performed cleaning, handled missing values, and standardised data types</a:t>
            </a:r>
          </a:p>
          <a:p>
            <a:pPr marL="342265" indent="-342265">
              <a:spcAft>
                <a:spcPts val="600"/>
              </a:spcAft>
              <a:buFont typeface="+mj-lt"/>
              <a:buAutoNum type="arabicPeriod"/>
            </a:pPr>
            <a:r>
              <a:rPr lang="en-GB" sz="1600" b="1" noProof="0"/>
              <a:t>Focused exploration</a:t>
            </a:r>
            <a:r>
              <a:rPr lang="en-GB" sz="1600" noProof="0"/>
              <a:t>: Our analysis is predicated on three key areas for the growth mandate:</a:t>
            </a:r>
          </a:p>
          <a:p>
            <a:pPr marL="673735" lvl="1" indent="-399415">
              <a:spcAft>
                <a:spcPts val="600"/>
              </a:spcAft>
              <a:buFont typeface="+mj-lt"/>
              <a:buAutoNum type="romanLcPeriod"/>
            </a:pPr>
            <a:r>
              <a:rPr lang="en-GB" sz="1400" noProof="0"/>
              <a:t>Service quality &amp; Customer satisfaction</a:t>
            </a:r>
          </a:p>
          <a:p>
            <a:pPr marL="673735" lvl="1" indent="-399415">
              <a:spcAft>
                <a:spcPts val="600"/>
              </a:spcAft>
              <a:buFont typeface="+mj-lt"/>
              <a:buAutoNum type="romanLcPeriod"/>
            </a:pPr>
            <a:r>
              <a:rPr lang="en-GB" sz="1400" noProof="0"/>
              <a:t>Customer purchase behaviours</a:t>
            </a:r>
          </a:p>
          <a:p>
            <a:pPr marL="673735" lvl="1" indent="-399415">
              <a:spcAft>
                <a:spcPts val="600"/>
              </a:spcAft>
              <a:buFont typeface="+mj-lt"/>
              <a:buAutoNum type="romanLcPeriod"/>
            </a:pPr>
            <a:r>
              <a:rPr lang="en-GB" sz="1400" noProof="0"/>
              <a:t>Platform ease of use</a:t>
            </a:r>
          </a:p>
        </p:txBody>
      </p:sp>
      <p:sp>
        <p:nvSpPr>
          <p:cNvPr id="3" name="Slide Number Placeholder 2">
            <a:extLst>
              <a:ext uri="{FF2B5EF4-FFF2-40B4-BE49-F238E27FC236}">
                <a16:creationId xmlns:a16="http://schemas.microsoft.com/office/drawing/2014/main" id="{46837982-CA3A-C92F-2FBF-5D0260EA02EA}"/>
              </a:ext>
            </a:extLst>
          </p:cNvPr>
          <p:cNvSpPr>
            <a:spLocks noGrp="1"/>
          </p:cNvSpPr>
          <p:nvPr>
            <p:ph type="sldNum" sz="quarter" idx="12"/>
          </p:nvPr>
        </p:nvSpPr>
        <p:spPr/>
        <p:txBody>
          <a:bodyPr/>
          <a:lstStyle/>
          <a:p>
            <a:r>
              <a:rPr lang="en-GB" noProof="0"/>
              <a:t>2</a:t>
            </a:r>
          </a:p>
        </p:txBody>
      </p:sp>
      <p:sp>
        <p:nvSpPr>
          <p:cNvPr id="8" name="Title 1">
            <a:extLst>
              <a:ext uri="{FF2B5EF4-FFF2-40B4-BE49-F238E27FC236}">
                <a16:creationId xmlns:a16="http://schemas.microsoft.com/office/drawing/2014/main" id="{72A96B5B-294C-D7A3-62A1-7C2459D21629}"/>
              </a:ext>
            </a:extLst>
          </p:cNvPr>
          <p:cNvSpPr txBox="1">
            <a:spLocks/>
          </p:cNvSpPr>
          <p:nvPr/>
        </p:nvSpPr>
        <p:spPr>
          <a:xfrm>
            <a:off x="515322" y="0"/>
            <a:ext cx="10058400" cy="160934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5400" kern="1200" cap="all" baseline="0">
                <a:blipFill>
                  <a:blip r:embed="rId3">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n-GB" noProof="0"/>
              <a:t>Database overview</a:t>
            </a:r>
          </a:p>
        </p:txBody>
      </p:sp>
    </p:spTree>
    <p:extLst>
      <p:ext uri="{BB962C8B-B14F-4D97-AF65-F5344CB8AC3E}">
        <p14:creationId xmlns:p14="http://schemas.microsoft.com/office/powerpoint/2010/main" val="25244325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C818C-75FB-E923-127D-D4774CD27627}"/>
            </a:ext>
          </a:extLst>
        </p:cNvPr>
        <p:cNvGrpSpPr/>
        <p:nvPr/>
      </p:nvGrpSpPr>
      <p:grpSpPr>
        <a:xfrm>
          <a:off x="0" y="0"/>
          <a:ext cx="0" cy="0"/>
          <a:chOff x="0" y="0"/>
          <a:chExt cx="0" cy="0"/>
        </a:xfrm>
      </p:grpSpPr>
      <p:sp>
        <p:nvSpPr>
          <p:cNvPr id="11" name="Rectangle 1">
            <a:extLst>
              <a:ext uri="{FF2B5EF4-FFF2-40B4-BE49-F238E27FC236}">
                <a16:creationId xmlns:a16="http://schemas.microsoft.com/office/drawing/2014/main" id="{67A55952-A13E-7C44-1973-A5ABDD440253}"/>
              </a:ext>
            </a:extLst>
          </p:cNvPr>
          <p:cNvSpPr>
            <a:spLocks noGrp="1" noChangeArrowheads="1"/>
          </p:cNvSpPr>
          <p:nvPr>
            <p:ph idx="1"/>
          </p:nvPr>
        </p:nvSpPr>
        <p:spPr bwMode="auto">
          <a:xfrm>
            <a:off x="526284" y="369795"/>
            <a:ext cx="10696577" cy="7200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Autofit/>
          </a:bodyPr>
          <a:lstStyle/>
          <a:p>
            <a:pPr marL="0" indent="0" eaLnBrk="0" fontAlgn="base" hangingPunct="0">
              <a:spcBef>
                <a:spcPct val="0"/>
              </a:spcBef>
              <a:spcAft>
                <a:spcPts val="600"/>
              </a:spcAft>
              <a:buClrTx/>
              <a:buSzTx/>
              <a:buNone/>
            </a:pPr>
            <a:r>
              <a:rPr lang="en-GB" sz="2400" noProof="0"/>
              <a:t>Business performance has stalled, underpinned by chronic, unresolved customer review issues</a:t>
            </a:r>
            <a:endParaRPr lang="en-GB" sz="2400" noProof="0">
              <a:solidFill>
                <a:srgbClr val="DD462F"/>
              </a:solidFill>
            </a:endParaRPr>
          </a:p>
        </p:txBody>
      </p:sp>
      <p:sp>
        <p:nvSpPr>
          <p:cNvPr id="17" name="Rectangle 1">
            <a:extLst>
              <a:ext uri="{FF2B5EF4-FFF2-40B4-BE49-F238E27FC236}">
                <a16:creationId xmlns:a16="http://schemas.microsoft.com/office/drawing/2014/main" id="{52F48E83-F96F-5F92-FB2C-BC9AA32E415F}"/>
              </a:ext>
            </a:extLst>
          </p:cNvPr>
          <p:cNvSpPr txBox="1">
            <a:spLocks noChangeArrowheads="1"/>
          </p:cNvSpPr>
          <p:nvPr/>
        </p:nvSpPr>
        <p:spPr bwMode="auto">
          <a:xfrm>
            <a:off x="515322" y="1449795"/>
            <a:ext cx="5220000" cy="7200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eaLnBrk="0" fontAlgn="base" hangingPunct="0">
              <a:spcBef>
                <a:spcPct val="0"/>
              </a:spcBef>
              <a:spcAft>
                <a:spcPts val="600"/>
              </a:spcAft>
              <a:buClrTx/>
              <a:buSzTx/>
              <a:buNone/>
            </a:pPr>
            <a:r>
              <a:rPr lang="en-GB" sz="1500" noProof="0"/>
              <a:t>Order volume, a key growth metric, has flattened in Year 1 after a period of rapid expansion, while review collection remains efficient at ~80%.</a:t>
            </a:r>
            <a:endParaRPr lang="en-GB" sz="1500" noProof="0">
              <a:solidFill>
                <a:srgbClr val="DD462F"/>
              </a:solidFill>
            </a:endParaRPr>
          </a:p>
        </p:txBody>
      </p:sp>
      <p:sp>
        <p:nvSpPr>
          <p:cNvPr id="25" name="Rectangle 1">
            <a:extLst>
              <a:ext uri="{FF2B5EF4-FFF2-40B4-BE49-F238E27FC236}">
                <a16:creationId xmlns:a16="http://schemas.microsoft.com/office/drawing/2014/main" id="{4CBBBDA2-3C8C-B1E8-5451-8000597BC06D}"/>
              </a:ext>
            </a:extLst>
          </p:cNvPr>
          <p:cNvSpPr txBox="1">
            <a:spLocks noChangeArrowheads="1"/>
          </p:cNvSpPr>
          <p:nvPr/>
        </p:nvSpPr>
        <p:spPr bwMode="auto">
          <a:xfrm>
            <a:off x="6456677" y="1449795"/>
            <a:ext cx="5220000" cy="7200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eaLnBrk="0" fontAlgn="base" hangingPunct="0">
              <a:spcBef>
                <a:spcPct val="0"/>
              </a:spcBef>
              <a:spcAft>
                <a:spcPts val="600"/>
              </a:spcAft>
              <a:buClrTx/>
              <a:buSzTx/>
              <a:buNone/>
            </a:pPr>
            <a:r>
              <a:rPr lang="en-GB" sz="1500" noProof="0"/>
              <a:t>A persistent 10-15% floor of 1-star reviews is anchoring the average score at a mediocre ~3.8 stars, preventing any upward improvement.</a:t>
            </a:r>
          </a:p>
        </p:txBody>
      </p:sp>
      <p:sp>
        <p:nvSpPr>
          <p:cNvPr id="2" name="Rectangle 1">
            <a:extLst>
              <a:ext uri="{FF2B5EF4-FFF2-40B4-BE49-F238E27FC236}">
                <a16:creationId xmlns:a16="http://schemas.microsoft.com/office/drawing/2014/main" id="{78B9448F-37F6-5C04-46D2-E547EE281653}"/>
              </a:ext>
            </a:extLst>
          </p:cNvPr>
          <p:cNvSpPr txBox="1">
            <a:spLocks noChangeArrowheads="1"/>
          </p:cNvSpPr>
          <p:nvPr/>
        </p:nvSpPr>
        <p:spPr bwMode="auto">
          <a:xfrm>
            <a:off x="515322" y="2354435"/>
            <a:ext cx="5220000" cy="3600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algn="ctr" eaLnBrk="0" fontAlgn="base" hangingPunct="0">
              <a:spcBef>
                <a:spcPct val="0"/>
              </a:spcBef>
              <a:spcAft>
                <a:spcPts val="600"/>
              </a:spcAft>
              <a:buClrTx/>
              <a:buSzTx/>
              <a:buNone/>
            </a:pPr>
            <a:r>
              <a:rPr lang="en-GB" sz="1200" noProof="0"/>
              <a:t>Orders by review activity over time</a:t>
            </a:r>
            <a:endParaRPr lang="en-GB" sz="1200" noProof="0">
              <a:solidFill>
                <a:srgbClr val="DD462F"/>
              </a:solidFill>
            </a:endParaRPr>
          </a:p>
        </p:txBody>
      </p:sp>
      <p:pic>
        <p:nvPicPr>
          <p:cNvPr id="15" name="Grafik 14">
            <a:extLst>
              <a:ext uri="{FF2B5EF4-FFF2-40B4-BE49-F238E27FC236}">
                <a16:creationId xmlns:a16="http://schemas.microsoft.com/office/drawing/2014/main" id="{8BA48677-6F25-6A85-C24A-D30DE3CA72B6}"/>
              </a:ext>
            </a:extLst>
          </p:cNvPr>
          <p:cNvPicPr>
            <a:picLocks noChangeAspect="1"/>
          </p:cNvPicPr>
          <p:nvPr/>
        </p:nvPicPr>
        <p:blipFill>
          <a:blip r:embed="rId2"/>
          <a:stretch>
            <a:fillRect/>
          </a:stretch>
        </p:blipFill>
        <p:spPr>
          <a:xfrm>
            <a:off x="6456677" y="2613178"/>
            <a:ext cx="5220000" cy="3468293"/>
          </a:xfrm>
          <a:prstGeom prst="rect">
            <a:avLst/>
          </a:prstGeom>
        </p:spPr>
      </p:pic>
      <p:pic>
        <p:nvPicPr>
          <p:cNvPr id="18" name="Grafik 17">
            <a:extLst>
              <a:ext uri="{FF2B5EF4-FFF2-40B4-BE49-F238E27FC236}">
                <a16:creationId xmlns:a16="http://schemas.microsoft.com/office/drawing/2014/main" id="{95EF2B07-8915-22A6-4B00-BD24B3FA77EF}"/>
              </a:ext>
            </a:extLst>
          </p:cNvPr>
          <p:cNvPicPr>
            <a:picLocks noChangeAspect="1"/>
          </p:cNvPicPr>
          <p:nvPr/>
        </p:nvPicPr>
        <p:blipFill>
          <a:blip r:embed="rId3"/>
          <a:stretch>
            <a:fillRect/>
          </a:stretch>
        </p:blipFill>
        <p:spPr>
          <a:xfrm>
            <a:off x="372448" y="2619307"/>
            <a:ext cx="5362875" cy="3570347"/>
          </a:xfrm>
          <a:prstGeom prst="rect">
            <a:avLst/>
          </a:prstGeom>
        </p:spPr>
      </p:pic>
      <p:sp>
        <p:nvSpPr>
          <p:cNvPr id="19" name="Rectangle 1">
            <a:extLst>
              <a:ext uri="{FF2B5EF4-FFF2-40B4-BE49-F238E27FC236}">
                <a16:creationId xmlns:a16="http://schemas.microsoft.com/office/drawing/2014/main" id="{A37592C3-B1E2-9C7D-10FB-ADA9897CC71B}"/>
              </a:ext>
            </a:extLst>
          </p:cNvPr>
          <p:cNvSpPr txBox="1">
            <a:spLocks noChangeArrowheads="1"/>
          </p:cNvSpPr>
          <p:nvPr/>
        </p:nvSpPr>
        <p:spPr bwMode="auto">
          <a:xfrm>
            <a:off x="6456677" y="2354435"/>
            <a:ext cx="5220000" cy="3600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algn="ctr" eaLnBrk="0" fontAlgn="base" hangingPunct="0">
              <a:spcBef>
                <a:spcPct val="0"/>
              </a:spcBef>
              <a:spcAft>
                <a:spcPts val="600"/>
              </a:spcAft>
              <a:buClrTx/>
              <a:buSzTx/>
              <a:buNone/>
            </a:pPr>
            <a:r>
              <a:rPr lang="en-GB" sz="1200" noProof="0"/>
              <a:t>Review scores over time</a:t>
            </a:r>
            <a:endParaRPr lang="en-GB" sz="1200" noProof="0">
              <a:solidFill>
                <a:srgbClr val="DD462F"/>
              </a:solidFill>
            </a:endParaRPr>
          </a:p>
        </p:txBody>
      </p:sp>
      <p:cxnSp>
        <p:nvCxnSpPr>
          <p:cNvPr id="22" name="Gerader Verbinder 21">
            <a:extLst>
              <a:ext uri="{FF2B5EF4-FFF2-40B4-BE49-F238E27FC236}">
                <a16:creationId xmlns:a16="http://schemas.microsoft.com/office/drawing/2014/main" id="{022466DE-1854-D631-6391-391A9800FF3F}"/>
              </a:ext>
            </a:extLst>
          </p:cNvPr>
          <p:cNvCxnSpPr>
            <a:cxnSpLocks/>
          </p:cNvCxnSpPr>
          <p:nvPr/>
        </p:nvCxnSpPr>
        <p:spPr>
          <a:xfrm>
            <a:off x="6103620" y="1449795"/>
            <a:ext cx="0" cy="486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F452BB9F-7C3C-046A-5365-C52503FEC930}"/>
              </a:ext>
            </a:extLst>
          </p:cNvPr>
          <p:cNvCxnSpPr>
            <a:cxnSpLocks/>
          </p:cNvCxnSpPr>
          <p:nvPr/>
        </p:nvCxnSpPr>
        <p:spPr>
          <a:xfrm>
            <a:off x="515323" y="2169795"/>
            <a:ext cx="5220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Gerader Verbinder 25">
            <a:extLst>
              <a:ext uri="{FF2B5EF4-FFF2-40B4-BE49-F238E27FC236}">
                <a16:creationId xmlns:a16="http://schemas.microsoft.com/office/drawing/2014/main" id="{D86E9C01-9712-C758-E27A-4274AE2816B0}"/>
              </a:ext>
            </a:extLst>
          </p:cNvPr>
          <p:cNvCxnSpPr>
            <a:cxnSpLocks/>
          </p:cNvCxnSpPr>
          <p:nvPr/>
        </p:nvCxnSpPr>
        <p:spPr>
          <a:xfrm>
            <a:off x="6456678" y="2169795"/>
            <a:ext cx="5220000"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00AA7519-B460-08FC-160A-ADCED5E209BE}"/>
              </a:ext>
            </a:extLst>
          </p:cNvPr>
          <p:cNvSpPr>
            <a:spLocks noGrp="1"/>
          </p:cNvSpPr>
          <p:nvPr>
            <p:ph type="sldNum" sz="quarter" idx="12"/>
          </p:nvPr>
        </p:nvSpPr>
        <p:spPr/>
        <p:txBody>
          <a:bodyPr/>
          <a:lstStyle/>
          <a:p>
            <a:r>
              <a:rPr lang="en-GB" noProof="0"/>
              <a:t>3</a:t>
            </a:r>
          </a:p>
        </p:txBody>
      </p:sp>
    </p:spTree>
    <p:extLst>
      <p:ext uri="{BB962C8B-B14F-4D97-AF65-F5344CB8AC3E}">
        <p14:creationId xmlns:p14="http://schemas.microsoft.com/office/powerpoint/2010/main" val="2250539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23963-6226-E2E9-A7E5-BABB451B9C2D}"/>
            </a:ext>
          </a:extLst>
        </p:cNvPr>
        <p:cNvGrpSpPr/>
        <p:nvPr/>
      </p:nvGrpSpPr>
      <p:grpSpPr>
        <a:xfrm>
          <a:off x="0" y="0"/>
          <a:ext cx="0" cy="0"/>
          <a:chOff x="0" y="0"/>
          <a:chExt cx="0" cy="0"/>
        </a:xfrm>
      </p:grpSpPr>
      <p:sp>
        <p:nvSpPr>
          <p:cNvPr id="17" name="Rectangle 1">
            <a:extLst>
              <a:ext uri="{FF2B5EF4-FFF2-40B4-BE49-F238E27FC236}">
                <a16:creationId xmlns:a16="http://schemas.microsoft.com/office/drawing/2014/main" id="{9C01E1B9-FBA7-8BC6-6321-80AE661E613E}"/>
              </a:ext>
            </a:extLst>
          </p:cNvPr>
          <p:cNvSpPr txBox="1">
            <a:spLocks noChangeArrowheads="1"/>
          </p:cNvSpPr>
          <p:nvPr/>
        </p:nvSpPr>
        <p:spPr bwMode="auto">
          <a:xfrm>
            <a:off x="526284" y="1469097"/>
            <a:ext cx="3312000" cy="70713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eaLnBrk="0" fontAlgn="base" hangingPunct="0">
              <a:spcBef>
                <a:spcPct val="0"/>
              </a:spcBef>
              <a:spcAft>
                <a:spcPts val="600"/>
              </a:spcAft>
              <a:buClrTx/>
              <a:buSzTx/>
              <a:buNone/>
            </a:pPr>
            <a:r>
              <a:rPr lang="en-GB" sz="1500" noProof="0"/>
              <a:t>Product reviews are generally positive, but delivery reviews are dramatically skewed negative.</a:t>
            </a:r>
            <a:endParaRPr lang="en-GB" sz="1500" noProof="0">
              <a:solidFill>
                <a:srgbClr val="DD462F"/>
              </a:solidFill>
            </a:endParaRPr>
          </a:p>
        </p:txBody>
      </p:sp>
      <p:cxnSp>
        <p:nvCxnSpPr>
          <p:cNvPr id="22" name="Gerader Verbinder 21">
            <a:extLst>
              <a:ext uri="{FF2B5EF4-FFF2-40B4-BE49-F238E27FC236}">
                <a16:creationId xmlns:a16="http://schemas.microsoft.com/office/drawing/2014/main" id="{47717E11-10B1-4B16-E0DB-ED12177307CE}"/>
              </a:ext>
            </a:extLst>
          </p:cNvPr>
          <p:cNvCxnSpPr>
            <a:cxnSpLocks/>
          </p:cNvCxnSpPr>
          <p:nvPr/>
        </p:nvCxnSpPr>
        <p:spPr>
          <a:xfrm>
            <a:off x="4064000" y="1600200"/>
            <a:ext cx="0" cy="4824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Rectangle 1">
            <a:extLst>
              <a:ext uri="{FF2B5EF4-FFF2-40B4-BE49-F238E27FC236}">
                <a16:creationId xmlns:a16="http://schemas.microsoft.com/office/drawing/2014/main" id="{11DCE5F6-FFCD-844E-434B-5EEB5476A848}"/>
              </a:ext>
            </a:extLst>
          </p:cNvPr>
          <p:cNvSpPr txBox="1">
            <a:spLocks noChangeArrowheads="1"/>
          </p:cNvSpPr>
          <p:nvPr/>
        </p:nvSpPr>
        <p:spPr bwMode="auto">
          <a:xfrm>
            <a:off x="8397034" y="1629795"/>
            <a:ext cx="3312000" cy="5400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eaLnBrk="0" fontAlgn="base" hangingPunct="0">
              <a:spcBef>
                <a:spcPct val="0"/>
              </a:spcBef>
              <a:spcAft>
                <a:spcPts val="600"/>
              </a:spcAft>
              <a:buClrTx/>
              <a:buSzTx/>
              <a:buNone/>
            </a:pPr>
            <a:r>
              <a:rPr lang="en-GB" sz="1500" noProof="0"/>
              <a:t>A qualitative keyword analysis of all 1-star comments confirms this.</a:t>
            </a:r>
          </a:p>
        </p:txBody>
      </p:sp>
      <p:pic>
        <p:nvPicPr>
          <p:cNvPr id="7" name="Grafik 6">
            <a:extLst>
              <a:ext uri="{FF2B5EF4-FFF2-40B4-BE49-F238E27FC236}">
                <a16:creationId xmlns:a16="http://schemas.microsoft.com/office/drawing/2014/main" id="{D70C5881-117B-135C-99FF-E4EF8BEFA36B}"/>
              </a:ext>
            </a:extLst>
          </p:cNvPr>
          <p:cNvPicPr>
            <a:picLocks noChangeAspect="1"/>
          </p:cNvPicPr>
          <p:nvPr/>
        </p:nvPicPr>
        <p:blipFill>
          <a:blip r:embed="rId2"/>
          <a:stretch>
            <a:fillRect/>
          </a:stretch>
        </p:blipFill>
        <p:spPr>
          <a:xfrm>
            <a:off x="340232" y="2659932"/>
            <a:ext cx="3523598" cy="2828854"/>
          </a:xfrm>
          <a:prstGeom prst="rect">
            <a:avLst/>
          </a:prstGeom>
        </p:spPr>
      </p:pic>
      <p:pic>
        <p:nvPicPr>
          <p:cNvPr id="10" name="Grafik 9">
            <a:extLst>
              <a:ext uri="{FF2B5EF4-FFF2-40B4-BE49-F238E27FC236}">
                <a16:creationId xmlns:a16="http://schemas.microsoft.com/office/drawing/2014/main" id="{A9A75E53-06D1-929D-DE3A-CEF425134E5E}"/>
              </a:ext>
            </a:extLst>
          </p:cNvPr>
          <p:cNvPicPr>
            <a:picLocks noChangeAspect="1"/>
          </p:cNvPicPr>
          <p:nvPr/>
        </p:nvPicPr>
        <p:blipFill>
          <a:blip r:embed="rId3"/>
          <a:stretch>
            <a:fillRect/>
          </a:stretch>
        </p:blipFill>
        <p:spPr>
          <a:xfrm>
            <a:off x="4602000" y="2603725"/>
            <a:ext cx="2988000" cy="3494442"/>
          </a:xfrm>
          <a:prstGeom prst="rect">
            <a:avLst/>
          </a:prstGeom>
        </p:spPr>
      </p:pic>
      <p:pic>
        <p:nvPicPr>
          <p:cNvPr id="13" name="Grafik 12">
            <a:extLst>
              <a:ext uri="{FF2B5EF4-FFF2-40B4-BE49-F238E27FC236}">
                <a16:creationId xmlns:a16="http://schemas.microsoft.com/office/drawing/2014/main" id="{6F827F7A-7F70-4247-1EFC-670B78311A15}"/>
              </a:ext>
            </a:extLst>
          </p:cNvPr>
          <p:cNvPicPr>
            <a:picLocks noChangeAspect="1"/>
          </p:cNvPicPr>
          <p:nvPr/>
        </p:nvPicPr>
        <p:blipFill>
          <a:blip r:embed="rId4"/>
          <a:stretch>
            <a:fillRect/>
          </a:stretch>
        </p:blipFill>
        <p:spPr>
          <a:xfrm>
            <a:off x="8397786" y="2603725"/>
            <a:ext cx="3408881" cy="3408881"/>
          </a:xfrm>
          <a:prstGeom prst="rect">
            <a:avLst/>
          </a:prstGeom>
        </p:spPr>
      </p:pic>
      <p:sp>
        <p:nvSpPr>
          <p:cNvPr id="14" name="Rectangle 1">
            <a:extLst>
              <a:ext uri="{FF2B5EF4-FFF2-40B4-BE49-F238E27FC236}">
                <a16:creationId xmlns:a16="http://schemas.microsoft.com/office/drawing/2014/main" id="{12D30DAB-E84C-EE6F-94C7-6600A98B8DBF}"/>
              </a:ext>
            </a:extLst>
          </p:cNvPr>
          <p:cNvSpPr txBox="1">
            <a:spLocks noChangeArrowheads="1"/>
          </p:cNvSpPr>
          <p:nvPr/>
        </p:nvSpPr>
        <p:spPr bwMode="auto">
          <a:xfrm>
            <a:off x="4319728" y="1629795"/>
            <a:ext cx="3481200" cy="5400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eaLnBrk="0" fontAlgn="base" hangingPunct="0">
              <a:spcBef>
                <a:spcPct val="0"/>
              </a:spcBef>
              <a:spcAft>
                <a:spcPts val="600"/>
              </a:spcAft>
              <a:buClrTx/>
              <a:buSzTx/>
              <a:buNone/>
            </a:pPr>
            <a:r>
              <a:rPr lang="en-GB" sz="1500" noProof="0"/>
              <a:t>Delivery issues are disproportion-</a:t>
            </a:r>
            <a:r>
              <a:rPr lang="en-GB" sz="1500" noProof="0" err="1"/>
              <a:t>ately</a:t>
            </a:r>
            <a:r>
              <a:rPr lang="en-GB" sz="1500" noProof="0"/>
              <a:t> responsible for 1-star ratings.</a:t>
            </a:r>
          </a:p>
        </p:txBody>
      </p:sp>
      <p:sp>
        <p:nvSpPr>
          <p:cNvPr id="15" name="Rectangle 1">
            <a:extLst>
              <a:ext uri="{FF2B5EF4-FFF2-40B4-BE49-F238E27FC236}">
                <a16:creationId xmlns:a16="http://schemas.microsoft.com/office/drawing/2014/main" id="{66E6DC95-D037-63C6-3A4A-FCD090E243F5}"/>
              </a:ext>
            </a:extLst>
          </p:cNvPr>
          <p:cNvSpPr txBox="1">
            <a:spLocks noChangeArrowheads="1"/>
          </p:cNvSpPr>
          <p:nvPr/>
        </p:nvSpPr>
        <p:spPr bwMode="auto">
          <a:xfrm>
            <a:off x="485775" y="6568422"/>
            <a:ext cx="4391025" cy="23069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eaLnBrk="0" fontAlgn="base" hangingPunct="0">
              <a:spcBef>
                <a:spcPct val="0"/>
              </a:spcBef>
              <a:spcAft>
                <a:spcPts val="600"/>
              </a:spcAft>
              <a:buClrTx/>
              <a:buSzTx/>
              <a:buNone/>
            </a:pPr>
            <a:r>
              <a:rPr lang="en-GB" sz="900" noProof="0"/>
              <a:t>Delivery reviews = reviews given within 1 day of delivery</a:t>
            </a:r>
            <a:endParaRPr lang="en-GB" sz="900" noProof="0">
              <a:solidFill>
                <a:srgbClr val="DD462F"/>
              </a:solidFill>
            </a:endParaRPr>
          </a:p>
        </p:txBody>
      </p:sp>
      <p:cxnSp>
        <p:nvCxnSpPr>
          <p:cNvPr id="19" name="Gerader Verbinder 18">
            <a:extLst>
              <a:ext uri="{FF2B5EF4-FFF2-40B4-BE49-F238E27FC236}">
                <a16:creationId xmlns:a16="http://schemas.microsoft.com/office/drawing/2014/main" id="{CB410A8D-F2C4-ECEB-AE7F-1050654AD947}"/>
              </a:ext>
            </a:extLst>
          </p:cNvPr>
          <p:cNvCxnSpPr>
            <a:cxnSpLocks/>
          </p:cNvCxnSpPr>
          <p:nvPr/>
        </p:nvCxnSpPr>
        <p:spPr>
          <a:xfrm>
            <a:off x="4334848" y="2169795"/>
            <a:ext cx="3481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Gerader Verbinder 19">
            <a:extLst>
              <a:ext uri="{FF2B5EF4-FFF2-40B4-BE49-F238E27FC236}">
                <a16:creationId xmlns:a16="http://schemas.microsoft.com/office/drawing/2014/main" id="{AB82C661-273D-C3FD-7550-A91070F7C7BB}"/>
              </a:ext>
            </a:extLst>
          </p:cNvPr>
          <p:cNvCxnSpPr>
            <a:cxnSpLocks/>
          </p:cNvCxnSpPr>
          <p:nvPr/>
        </p:nvCxnSpPr>
        <p:spPr>
          <a:xfrm>
            <a:off x="8399778" y="2169795"/>
            <a:ext cx="331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38B330C5-4353-9E65-1BEC-2C475F911022}"/>
              </a:ext>
            </a:extLst>
          </p:cNvPr>
          <p:cNvCxnSpPr>
            <a:cxnSpLocks/>
          </p:cNvCxnSpPr>
          <p:nvPr/>
        </p:nvCxnSpPr>
        <p:spPr>
          <a:xfrm>
            <a:off x="496273" y="2169795"/>
            <a:ext cx="3312000" cy="0"/>
          </a:xfrm>
          <a:prstGeom prst="line">
            <a:avLst/>
          </a:prstGeom>
        </p:spPr>
        <p:style>
          <a:lnRef idx="1">
            <a:schemeClr val="accent1"/>
          </a:lnRef>
          <a:fillRef idx="0">
            <a:schemeClr val="accent1"/>
          </a:fillRef>
          <a:effectRef idx="0">
            <a:schemeClr val="accent1"/>
          </a:effectRef>
          <a:fontRef idx="minor">
            <a:schemeClr val="tx1"/>
          </a:fontRef>
        </p:style>
      </p:cxnSp>
      <p:sp>
        <p:nvSpPr>
          <p:cNvPr id="26" name="Rectangle 1">
            <a:extLst>
              <a:ext uri="{FF2B5EF4-FFF2-40B4-BE49-F238E27FC236}">
                <a16:creationId xmlns:a16="http://schemas.microsoft.com/office/drawing/2014/main" id="{6AC9C4F3-E802-633E-F606-95E92DF69A85}"/>
              </a:ext>
            </a:extLst>
          </p:cNvPr>
          <p:cNvSpPr txBox="1">
            <a:spLocks noChangeArrowheads="1"/>
          </p:cNvSpPr>
          <p:nvPr/>
        </p:nvSpPr>
        <p:spPr bwMode="auto">
          <a:xfrm>
            <a:off x="526284" y="369794"/>
            <a:ext cx="10696577" cy="85517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eaLnBrk="0" fontAlgn="base" hangingPunct="0">
              <a:spcBef>
                <a:spcPct val="0"/>
              </a:spcBef>
              <a:spcAft>
                <a:spcPts val="600"/>
              </a:spcAft>
              <a:buClrTx/>
              <a:buSzTx/>
              <a:buNone/>
            </a:pPr>
            <a:r>
              <a:rPr lang="en-GB" sz="2400" noProof="0"/>
              <a:t>A deep dive into review data pinpoints logistics, not product quality, as the primary driver of negative customer experiences</a:t>
            </a:r>
          </a:p>
        </p:txBody>
      </p:sp>
      <p:sp>
        <p:nvSpPr>
          <p:cNvPr id="28" name="Rectangle 1">
            <a:extLst>
              <a:ext uri="{FF2B5EF4-FFF2-40B4-BE49-F238E27FC236}">
                <a16:creationId xmlns:a16="http://schemas.microsoft.com/office/drawing/2014/main" id="{CB9EFDF5-BD52-A6F0-EAB0-7AAC76CD17E0}"/>
              </a:ext>
            </a:extLst>
          </p:cNvPr>
          <p:cNvSpPr txBox="1">
            <a:spLocks noChangeArrowheads="1"/>
          </p:cNvSpPr>
          <p:nvPr/>
        </p:nvSpPr>
        <p:spPr bwMode="auto">
          <a:xfrm>
            <a:off x="496273" y="2354435"/>
            <a:ext cx="3312000" cy="3600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algn="ctr" eaLnBrk="0" fontAlgn="base" hangingPunct="0">
              <a:spcBef>
                <a:spcPct val="0"/>
              </a:spcBef>
              <a:spcAft>
                <a:spcPts val="600"/>
              </a:spcAft>
              <a:buClrTx/>
              <a:buSzTx/>
              <a:buNone/>
            </a:pPr>
            <a:r>
              <a:rPr lang="en-GB" sz="1200" noProof="0"/>
              <a:t>Review scores by review type</a:t>
            </a:r>
            <a:endParaRPr lang="en-GB" sz="1200" noProof="0">
              <a:solidFill>
                <a:srgbClr val="DD462F"/>
              </a:solidFill>
            </a:endParaRPr>
          </a:p>
        </p:txBody>
      </p:sp>
      <p:sp>
        <p:nvSpPr>
          <p:cNvPr id="29" name="Rectangle 1">
            <a:extLst>
              <a:ext uri="{FF2B5EF4-FFF2-40B4-BE49-F238E27FC236}">
                <a16:creationId xmlns:a16="http://schemas.microsoft.com/office/drawing/2014/main" id="{E3DC5232-E472-0D97-1B0F-0AFCA0DB6A27}"/>
              </a:ext>
            </a:extLst>
          </p:cNvPr>
          <p:cNvSpPr txBox="1">
            <a:spLocks noChangeArrowheads="1"/>
          </p:cNvSpPr>
          <p:nvPr/>
        </p:nvSpPr>
        <p:spPr bwMode="auto">
          <a:xfrm>
            <a:off x="4334848" y="2354435"/>
            <a:ext cx="3481200" cy="3600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algn="ctr" eaLnBrk="0" fontAlgn="base" hangingPunct="0">
              <a:spcBef>
                <a:spcPct val="0"/>
              </a:spcBef>
              <a:spcAft>
                <a:spcPts val="600"/>
              </a:spcAft>
              <a:buClrTx/>
              <a:buSzTx/>
              <a:buNone/>
            </a:pPr>
            <a:r>
              <a:rPr lang="en-GB" sz="1200" noProof="0"/>
              <a:t>Share of delivery reviews by score</a:t>
            </a:r>
            <a:endParaRPr lang="en-GB" sz="1200" noProof="0">
              <a:solidFill>
                <a:srgbClr val="DD462F"/>
              </a:solidFill>
            </a:endParaRPr>
          </a:p>
        </p:txBody>
      </p:sp>
      <p:sp>
        <p:nvSpPr>
          <p:cNvPr id="30" name="Rectangle 1">
            <a:extLst>
              <a:ext uri="{FF2B5EF4-FFF2-40B4-BE49-F238E27FC236}">
                <a16:creationId xmlns:a16="http://schemas.microsoft.com/office/drawing/2014/main" id="{3FDD179D-5E34-5C40-422F-4BC074F8A0B5}"/>
              </a:ext>
            </a:extLst>
          </p:cNvPr>
          <p:cNvSpPr txBox="1">
            <a:spLocks noChangeArrowheads="1"/>
          </p:cNvSpPr>
          <p:nvPr/>
        </p:nvSpPr>
        <p:spPr bwMode="auto">
          <a:xfrm>
            <a:off x="8399778" y="2354435"/>
            <a:ext cx="3312000" cy="3600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algn="ctr" eaLnBrk="0" fontAlgn="base" hangingPunct="0">
              <a:spcBef>
                <a:spcPct val="0"/>
              </a:spcBef>
              <a:spcAft>
                <a:spcPts val="600"/>
              </a:spcAft>
              <a:buClrTx/>
              <a:buSzTx/>
              <a:buNone/>
            </a:pPr>
            <a:r>
              <a:rPr lang="en-GB" sz="1200" noProof="0"/>
              <a:t>Common keywords for 1-star reviews</a:t>
            </a:r>
            <a:endParaRPr lang="en-GB" sz="1200" noProof="0">
              <a:solidFill>
                <a:srgbClr val="DD462F"/>
              </a:solidFill>
            </a:endParaRPr>
          </a:p>
        </p:txBody>
      </p:sp>
      <p:cxnSp>
        <p:nvCxnSpPr>
          <p:cNvPr id="32" name="Gerader Verbinder 31">
            <a:extLst>
              <a:ext uri="{FF2B5EF4-FFF2-40B4-BE49-F238E27FC236}">
                <a16:creationId xmlns:a16="http://schemas.microsoft.com/office/drawing/2014/main" id="{4AF8EB85-FE0C-6ED6-64E6-E9D5C741F45C}"/>
              </a:ext>
            </a:extLst>
          </p:cNvPr>
          <p:cNvCxnSpPr>
            <a:cxnSpLocks/>
          </p:cNvCxnSpPr>
          <p:nvPr/>
        </p:nvCxnSpPr>
        <p:spPr>
          <a:xfrm>
            <a:off x="8115300" y="1617615"/>
            <a:ext cx="0" cy="47891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5922ACB6-E511-128A-C68E-4EEA891CEFBA}"/>
              </a:ext>
            </a:extLst>
          </p:cNvPr>
          <p:cNvSpPr>
            <a:spLocks noGrp="1"/>
          </p:cNvSpPr>
          <p:nvPr>
            <p:ph type="sldNum" sz="quarter" idx="12"/>
          </p:nvPr>
        </p:nvSpPr>
        <p:spPr/>
        <p:txBody>
          <a:bodyPr/>
          <a:lstStyle/>
          <a:p>
            <a:r>
              <a:rPr lang="en-GB" noProof="0"/>
              <a:t>4</a:t>
            </a:r>
          </a:p>
        </p:txBody>
      </p:sp>
    </p:spTree>
    <p:extLst>
      <p:ext uri="{BB962C8B-B14F-4D97-AF65-F5344CB8AC3E}">
        <p14:creationId xmlns:p14="http://schemas.microsoft.com/office/powerpoint/2010/main" val="10751933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8977B-C002-A2CF-9B14-B36D13B6EB2B}"/>
            </a:ext>
          </a:extLst>
        </p:cNvPr>
        <p:cNvGrpSpPr/>
        <p:nvPr/>
      </p:nvGrpSpPr>
      <p:grpSpPr>
        <a:xfrm>
          <a:off x="0" y="0"/>
          <a:ext cx="0" cy="0"/>
          <a:chOff x="0" y="0"/>
          <a:chExt cx="0" cy="0"/>
        </a:xfrm>
      </p:grpSpPr>
      <p:sp>
        <p:nvSpPr>
          <p:cNvPr id="11" name="Rectangle 1">
            <a:extLst>
              <a:ext uri="{FF2B5EF4-FFF2-40B4-BE49-F238E27FC236}">
                <a16:creationId xmlns:a16="http://schemas.microsoft.com/office/drawing/2014/main" id="{D2DAD193-3452-0646-807C-BA17176CB222}"/>
              </a:ext>
            </a:extLst>
          </p:cNvPr>
          <p:cNvSpPr>
            <a:spLocks noGrp="1" noChangeArrowheads="1"/>
          </p:cNvSpPr>
          <p:nvPr>
            <p:ph idx="1"/>
          </p:nvPr>
        </p:nvSpPr>
        <p:spPr bwMode="auto">
          <a:xfrm>
            <a:off x="526284" y="377722"/>
            <a:ext cx="10696577" cy="71955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Autofit/>
          </a:bodyPr>
          <a:lstStyle/>
          <a:p>
            <a:pPr marL="0" indent="0" eaLnBrk="0" fontAlgn="base" hangingPunct="0">
              <a:spcBef>
                <a:spcPct val="0"/>
              </a:spcBef>
              <a:spcAft>
                <a:spcPts val="600"/>
              </a:spcAft>
              <a:buClrTx/>
              <a:buSzTx/>
              <a:buNone/>
            </a:pPr>
            <a:r>
              <a:rPr lang="en-GB" sz="2400" noProof="0"/>
              <a:t>The logistics problem is not uniform, allowing for a targeted, regional intervention in high-priority cities</a:t>
            </a:r>
          </a:p>
        </p:txBody>
      </p:sp>
      <p:sp>
        <p:nvSpPr>
          <p:cNvPr id="17" name="Rectangle 1">
            <a:extLst>
              <a:ext uri="{FF2B5EF4-FFF2-40B4-BE49-F238E27FC236}">
                <a16:creationId xmlns:a16="http://schemas.microsoft.com/office/drawing/2014/main" id="{80432BAA-492C-F5D2-BE5F-ADF0331D3CF3}"/>
              </a:ext>
            </a:extLst>
          </p:cNvPr>
          <p:cNvSpPr txBox="1">
            <a:spLocks noChangeArrowheads="1"/>
          </p:cNvSpPr>
          <p:nvPr/>
        </p:nvSpPr>
        <p:spPr bwMode="auto">
          <a:xfrm>
            <a:off x="515323" y="1449795"/>
            <a:ext cx="5220000" cy="7200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algn="just" eaLnBrk="0" fontAlgn="base" hangingPunct="0">
              <a:spcBef>
                <a:spcPct val="0"/>
              </a:spcBef>
              <a:spcAft>
                <a:spcPts val="600"/>
              </a:spcAft>
              <a:buClrTx/>
              <a:buSzTx/>
              <a:buNone/>
            </a:pPr>
            <a:r>
              <a:rPr lang="en-GB" sz="1500" noProof="0"/>
              <a:t>Performance by city varies dramatically: Especially key market Rio de Janeiro stands out as a high-volume, low-performance outlier.</a:t>
            </a:r>
          </a:p>
        </p:txBody>
      </p:sp>
      <p:sp>
        <p:nvSpPr>
          <p:cNvPr id="20" name="Rectangle 1">
            <a:extLst>
              <a:ext uri="{FF2B5EF4-FFF2-40B4-BE49-F238E27FC236}">
                <a16:creationId xmlns:a16="http://schemas.microsoft.com/office/drawing/2014/main" id="{87D0E58D-CA74-E780-3650-C55E9B5D5569}"/>
              </a:ext>
            </a:extLst>
          </p:cNvPr>
          <p:cNvSpPr txBox="1">
            <a:spLocks noChangeArrowheads="1"/>
          </p:cNvSpPr>
          <p:nvPr/>
        </p:nvSpPr>
        <p:spPr bwMode="auto">
          <a:xfrm>
            <a:off x="515322" y="2374657"/>
            <a:ext cx="5219993" cy="24199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lnSpcReduction="10000"/>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algn="ctr" eaLnBrk="0" fontAlgn="base" hangingPunct="0">
              <a:spcBef>
                <a:spcPct val="0"/>
              </a:spcBef>
              <a:spcAft>
                <a:spcPts val="600"/>
              </a:spcAft>
              <a:buClrTx/>
              <a:buSzTx/>
              <a:buNone/>
            </a:pPr>
            <a:r>
              <a:rPr lang="en-GB" sz="1200" noProof="0"/>
              <a:t>Delivery reviews over average delivery time by customer city</a:t>
            </a:r>
            <a:endParaRPr lang="en-GB" sz="1200" noProof="0">
              <a:solidFill>
                <a:srgbClr val="DD462F"/>
              </a:solidFill>
            </a:endParaRPr>
          </a:p>
        </p:txBody>
      </p:sp>
      <p:sp>
        <p:nvSpPr>
          <p:cNvPr id="10" name="Rectangle 1">
            <a:extLst>
              <a:ext uri="{FF2B5EF4-FFF2-40B4-BE49-F238E27FC236}">
                <a16:creationId xmlns:a16="http://schemas.microsoft.com/office/drawing/2014/main" id="{F4584B88-72AF-14ED-784F-1CCF3032BE77}"/>
              </a:ext>
            </a:extLst>
          </p:cNvPr>
          <p:cNvSpPr txBox="1">
            <a:spLocks noChangeArrowheads="1"/>
          </p:cNvSpPr>
          <p:nvPr/>
        </p:nvSpPr>
        <p:spPr bwMode="auto">
          <a:xfrm>
            <a:off x="6456671" y="2374657"/>
            <a:ext cx="5219989" cy="29208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algn="ctr" eaLnBrk="0" fontAlgn="base" hangingPunct="0">
              <a:spcBef>
                <a:spcPct val="0"/>
              </a:spcBef>
              <a:spcAft>
                <a:spcPts val="600"/>
              </a:spcAft>
              <a:buClrTx/>
              <a:buSzTx/>
              <a:buNone/>
            </a:pPr>
            <a:r>
              <a:rPr lang="en-GB" sz="1200" noProof="0"/>
              <a:t>Delivery reviews over product reviews by product category</a:t>
            </a:r>
            <a:endParaRPr lang="en-GB" sz="1200" noProof="0">
              <a:solidFill>
                <a:srgbClr val="DD462F"/>
              </a:solidFill>
            </a:endParaRPr>
          </a:p>
        </p:txBody>
      </p:sp>
      <p:cxnSp>
        <p:nvCxnSpPr>
          <p:cNvPr id="12" name="Gerader Verbinder 11">
            <a:extLst>
              <a:ext uri="{FF2B5EF4-FFF2-40B4-BE49-F238E27FC236}">
                <a16:creationId xmlns:a16="http://schemas.microsoft.com/office/drawing/2014/main" id="{32246459-F383-926B-901F-93F5A6E29674}"/>
              </a:ext>
            </a:extLst>
          </p:cNvPr>
          <p:cNvCxnSpPr>
            <a:cxnSpLocks/>
          </p:cNvCxnSpPr>
          <p:nvPr/>
        </p:nvCxnSpPr>
        <p:spPr>
          <a:xfrm>
            <a:off x="6103620" y="1449795"/>
            <a:ext cx="0" cy="486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Gerader Verbinder 12">
            <a:extLst>
              <a:ext uri="{FF2B5EF4-FFF2-40B4-BE49-F238E27FC236}">
                <a16:creationId xmlns:a16="http://schemas.microsoft.com/office/drawing/2014/main" id="{B3F54EC5-599E-F034-B81F-B946D9485906}"/>
              </a:ext>
            </a:extLst>
          </p:cNvPr>
          <p:cNvCxnSpPr>
            <a:cxnSpLocks/>
          </p:cNvCxnSpPr>
          <p:nvPr/>
        </p:nvCxnSpPr>
        <p:spPr>
          <a:xfrm>
            <a:off x="515323" y="2169795"/>
            <a:ext cx="5220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CE282BB1-1D92-209C-26A4-6626B6D2114B}"/>
              </a:ext>
            </a:extLst>
          </p:cNvPr>
          <p:cNvCxnSpPr>
            <a:cxnSpLocks/>
          </p:cNvCxnSpPr>
          <p:nvPr/>
        </p:nvCxnSpPr>
        <p:spPr>
          <a:xfrm>
            <a:off x="6456678" y="2169795"/>
            <a:ext cx="5220000"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Rectangle 1">
            <a:extLst>
              <a:ext uri="{FF2B5EF4-FFF2-40B4-BE49-F238E27FC236}">
                <a16:creationId xmlns:a16="http://schemas.microsoft.com/office/drawing/2014/main" id="{F9BA1843-BA02-8A16-72C2-615016907D04}"/>
              </a:ext>
            </a:extLst>
          </p:cNvPr>
          <p:cNvSpPr txBox="1">
            <a:spLocks noChangeArrowheads="1"/>
          </p:cNvSpPr>
          <p:nvPr/>
        </p:nvSpPr>
        <p:spPr bwMode="auto">
          <a:xfrm>
            <a:off x="6456677" y="1449795"/>
            <a:ext cx="5219995" cy="7200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eaLnBrk="0" fontAlgn="base" hangingPunct="0">
              <a:spcBef>
                <a:spcPct val="0"/>
              </a:spcBef>
              <a:spcAft>
                <a:spcPts val="600"/>
              </a:spcAft>
              <a:buClrTx/>
              <a:buSzTx/>
              <a:buNone/>
            </a:pPr>
            <a:r>
              <a:rPr lang="en-GB" sz="1500" noProof="0"/>
              <a:t>Category-level analysis reveals distinct problems: Office furniture suffers from a product quality issue, while health &amp; beauty has a severe logistics crisis.</a:t>
            </a:r>
          </a:p>
        </p:txBody>
      </p:sp>
      <p:pic>
        <p:nvPicPr>
          <p:cNvPr id="21" name="Grafik 20">
            <a:extLst>
              <a:ext uri="{FF2B5EF4-FFF2-40B4-BE49-F238E27FC236}">
                <a16:creationId xmlns:a16="http://schemas.microsoft.com/office/drawing/2014/main" id="{7AED33F0-A63E-E68B-F32A-4D8D65BC85DF}"/>
              </a:ext>
            </a:extLst>
          </p:cNvPr>
          <p:cNvPicPr>
            <a:picLocks noChangeAspect="1"/>
          </p:cNvPicPr>
          <p:nvPr/>
        </p:nvPicPr>
        <p:blipFill>
          <a:blip r:embed="rId2"/>
          <a:stretch>
            <a:fillRect/>
          </a:stretch>
        </p:blipFill>
        <p:spPr>
          <a:xfrm>
            <a:off x="618139" y="2663861"/>
            <a:ext cx="5117176" cy="3816417"/>
          </a:xfrm>
          <a:prstGeom prst="rect">
            <a:avLst/>
          </a:prstGeom>
        </p:spPr>
      </p:pic>
      <p:sp>
        <p:nvSpPr>
          <p:cNvPr id="2" name="Slide Number Placeholder 1">
            <a:extLst>
              <a:ext uri="{FF2B5EF4-FFF2-40B4-BE49-F238E27FC236}">
                <a16:creationId xmlns:a16="http://schemas.microsoft.com/office/drawing/2014/main" id="{0B91F102-C95E-8864-8D82-1D96272F95F7}"/>
              </a:ext>
            </a:extLst>
          </p:cNvPr>
          <p:cNvSpPr>
            <a:spLocks noGrp="1"/>
          </p:cNvSpPr>
          <p:nvPr>
            <p:ph type="sldNum" sz="quarter" idx="12"/>
          </p:nvPr>
        </p:nvSpPr>
        <p:spPr/>
        <p:txBody>
          <a:bodyPr/>
          <a:lstStyle/>
          <a:p>
            <a:r>
              <a:rPr lang="en-GB" noProof="0"/>
              <a:t>5</a:t>
            </a:r>
          </a:p>
        </p:txBody>
      </p:sp>
      <p:grpSp>
        <p:nvGrpSpPr>
          <p:cNvPr id="4" name="Gruppieren 3">
            <a:extLst>
              <a:ext uri="{FF2B5EF4-FFF2-40B4-BE49-F238E27FC236}">
                <a16:creationId xmlns:a16="http://schemas.microsoft.com/office/drawing/2014/main" id="{1E3FD0FA-6B35-9693-E61B-D7EDE469A5A3}"/>
              </a:ext>
            </a:extLst>
          </p:cNvPr>
          <p:cNvGrpSpPr/>
          <p:nvPr/>
        </p:nvGrpSpPr>
        <p:grpSpPr>
          <a:xfrm>
            <a:off x="6565052" y="2666634"/>
            <a:ext cx="4982142" cy="3802396"/>
            <a:chOff x="6565052" y="2666634"/>
            <a:chExt cx="4982142" cy="3802396"/>
          </a:xfrm>
        </p:grpSpPr>
        <p:pic>
          <p:nvPicPr>
            <p:cNvPr id="23" name="Grafik 22">
              <a:extLst>
                <a:ext uri="{FF2B5EF4-FFF2-40B4-BE49-F238E27FC236}">
                  <a16:creationId xmlns:a16="http://schemas.microsoft.com/office/drawing/2014/main" id="{16A529B5-5841-FEB7-25EC-C4F0D96801C4}"/>
                </a:ext>
              </a:extLst>
            </p:cNvPr>
            <p:cNvPicPr>
              <a:picLocks noChangeAspect="1"/>
            </p:cNvPicPr>
            <p:nvPr/>
          </p:nvPicPr>
          <p:blipFill>
            <a:blip r:embed="rId3"/>
            <a:stretch>
              <a:fillRect/>
            </a:stretch>
          </p:blipFill>
          <p:spPr>
            <a:xfrm>
              <a:off x="6565052" y="2666634"/>
              <a:ext cx="4982142" cy="3729274"/>
            </a:xfrm>
            <a:prstGeom prst="foldedCorner">
              <a:avLst>
                <a:gd name="adj" fmla="val 5769"/>
              </a:avLst>
            </a:prstGeom>
          </p:spPr>
        </p:pic>
        <p:sp>
          <p:nvSpPr>
            <p:cNvPr id="3" name="Gleichschenkliges Dreieck 2">
              <a:extLst>
                <a:ext uri="{FF2B5EF4-FFF2-40B4-BE49-F238E27FC236}">
                  <a16:creationId xmlns:a16="http://schemas.microsoft.com/office/drawing/2014/main" id="{04098D63-76F7-7C17-A631-312247165B62}"/>
                </a:ext>
              </a:extLst>
            </p:cNvPr>
            <p:cNvSpPr/>
            <p:nvPr/>
          </p:nvSpPr>
          <p:spPr>
            <a:xfrm rot="18482051">
              <a:off x="11194597" y="6193340"/>
              <a:ext cx="420086" cy="131293"/>
            </a:xfrm>
            <a:prstGeom prst="triangle">
              <a:avLst>
                <a:gd name="adj" fmla="val 46673"/>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spTree>
    <p:extLst>
      <p:ext uri="{BB962C8B-B14F-4D97-AF65-F5344CB8AC3E}">
        <p14:creationId xmlns:p14="http://schemas.microsoft.com/office/powerpoint/2010/main" val="7247106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BCEC6-DCAF-57B4-F769-74A1E7905320}"/>
            </a:ext>
          </a:extLst>
        </p:cNvPr>
        <p:cNvGrpSpPr/>
        <p:nvPr/>
      </p:nvGrpSpPr>
      <p:grpSpPr>
        <a:xfrm>
          <a:off x="0" y="0"/>
          <a:ext cx="0" cy="0"/>
          <a:chOff x="0" y="0"/>
          <a:chExt cx="0" cy="0"/>
        </a:xfrm>
      </p:grpSpPr>
      <p:sp>
        <p:nvSpPr>
          <p:cNvPr id="17" name="Rectangle 1">
            <a:extLst>
              <a:ext uri="{FF2B5EF4-FFF2-40B4-BE49-F238E27FC236}">
                <a16:creationId xmlns:a16="http://schemas.microsoft.com/office/drawing/2014/main" id="{F0CCDA31-0A74-6587-3FF0-E822D1B3FC5F}"/>
              </a:ext>
            </a:extLst>
          </p:cNvPr>
          <p:cNvSpPr txBox="1">
            <a:spLocks noChangeArrowheads="1"/>
          </p:cNvSpPr>
          <p:nvPr/>
        </p:nvSpPr>
        <p:spPr bwMode="auto">
          <a:xfrm>
            <a:off x="2389606" y="1294690"/>
            <a:ext cx="3923723" cy="7200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algn="just">
              <a:lnSpc>
                <a:spcPct val="110000"/>
              </a:lnSpc>
              <a:spcBef>
                <a:spcPct val="0"/>
              </a:spcBef>
              <a:spcAft>
                <a:spcPts val="600"/>
              </a:spcAft>
              <a:buNone/>
            </a:pPr>
            <a:endParaRPr lang="en-GB" sz="1800" noProof="0">
              <a:ea typeface="+mn-lt"/>
              <a:cs typeface="+mn-lt"/>
            </a:endParaRPr>
          </a:p>
        </p:txBody>
      </p:sp>
      <p:cxnSp>
        <p:nvCxnSpPr>
          <p:cNvPr id="22" name="Gerader Verbinder 21">
            <a:extLst>
              <a:ext uri="{FF2B5EF4-FFF2-40B4-BE49-F238E27FC236}">
                <a16:creationId xmlns:a16="http://schemas.microsoft.com/office/drawing/2014/main" id="{610F8284-E47B-ACE9-A071-CD26E9B6D847}"/>
              </a:ext>
            </a:extLst>
          </p:cNvPr>
          <p:cNvCxnSpPr>
            <a:cxnSpLocks/>
          </p:cNvCxnSpPr>
          <p:nvPr/>
        </p:nvCxnSpPr>
        <p:spPr>
          <a:xfrm>
            <a:off x="4554888" y="1600200"/>
            <a:ext cx="0" cy="4824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Rectangle 1">
            <a:extLst>
              <a:ext uri="{FF2B5EF4-FFF2-40B4-BE49-F238E27FC236}">
                <a16:creationId xmlns:a16="http://schemas.microsoft.com/office/drawing/2014/main" id="{84D816CA-7842-D114-8E02-C59CBE134F4C}"/>
              </a:ext>
            </a:extLst>
          </p:cNvPr>
          <p:cNvSpPr txBox="1">
            <a:spLocks noChangeArrowheads="1"/>
          </p:cNvSpPr>
          <p:nvPr/>
        </p:nvSpPr>
        <p:spPr bwMode="auto">
          <a:xfrm>
            <a:off x="4835365" y="1445679"/>
            <a:ext cx="6552000" cy="7200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a:buNone/>
            </a:pPr>
            <a:r>
              <a:rPr lang="en-GB" sz="1500" noProof="0">
                <a:ea typeface="+mn-lt"/>
                <a:cs typeface="+mn-lt"/>
              </a:rPr>
              <a:t>Repeat behaviour is highly uneven across categories. These stable-need categories drive most repeat purchases, highlighting that not all categories offer the same retention potential.</a:t>
            </a:r>
          </a:p>
        </p:txBody>
      </p:sp>
      <p:cxnSp>
        <p:nvCxnSpPr>
          <p:cNvPr id="19" name="Gerader Verbinder 18">
            <a:extLst>
              <a:ext uri="{FF2B5EF4-FFF2-40B4-BE49-F238E27FC236}">
                <a16:creationId xmlns:a16="http://schemas.microsoft.com/office/drawing/2014/main" id="{56984034-A31F-27EA-8CFE-6350450D44A8}"/>
              </a:ext>
            </a:extLst>
          </p:cNvPr>
          <p:cNvCxnSpPr>
            <a:cxnSpLocks/>
          </p:cNvCxnSpPr>
          <p:nvPr/>
        </p:nvCxnSpPr>
        <p:spPr>
          <a:xfrm>
            <a:off x="4835365" y="2165679"/>
            <a:ext cx="655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113B486D-8F29-69E1-47BB-F4E38CDEC64A}"/>
              </a:ext>
            </a:extLst>
          </p:cNvPr>
          <p:cNvCxnSpPr>
            <a:cxnSpLocks/>
          </p:cNvCxnSpPr>
          <p:nvPr/>
        </p:nvCxnSpPr>
        <p:spPr>
          <a:xfrm>
            <a:off x="496273" y="2165679"/>
            <a:ext cx="3923724" cy="0"/>
          </a:xfrm>
          <a:prstGeom prst="line">
            <a:avLst/>
          </a:prstGeom>
        </p:spPr>
        <p:style>
          <a:lnRef idx="1">
            <a:schemeClr val="accent1"/>
          </a:lnRef>
          <a:fillRef idx="0">
            <a:schemeClr val="accent1"/>
          </a:fillRef>
          <a:effectRef idx="0">
            <a:schemeClr val="accent1"/>
          </a:effectRef>
          <a:fontRef idx="minor">
            <a:schemeClr val="tx1"/>
          </a:fontRef>
        </p:style>
      </p:cxnSp>
      <p:sp>
        <p:nvSpPr>
          <p:cNvPr id="26" name="Rectangle 1">
            <a:extLst>
              <a:ext uri="{FF2B5EF4-FFF2-40B4-BE49-F238E27FC236}">
                <a16:creationId xmlns:a16="http://schemas.microsoft.com/office/drawing/2014/main" id="{EE126550-B596-B7E7-FD6F-E9270A63D634}"/>
              </a:ext>
            </a:extLst>
          </p:cNvPr>
          <p:cNvSpPr txBox="1">
            <a:spLocks noChangeArrowheads="1"/>
          </p:cNvSpPr>
          <p:nvPr/>
        </p:nvSpPr>
        <p:spPr bwMode="auto">
          <a:xfrm>
            <a:off x="526284" y="369794"/>
            <a:ext cx="10696577" cy="85517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a:spcBef>
                <a:spcPct val="0"/>
              </a:spcBef>
              <a:spcAft>
                <a:spcPts val="600"/>
              </a:spcAft>
              <a:buNone/>
            </a:pPr>
            <a:r>
              <a:rPr lang="en-GB" sz="2400" noProof="0">
                <a:ea typeface="+mn-lt"/>
                <a:cs typeface="+mn-lt"/>
              </a:rPr>
              <a:t>Repeat purchases are extremely rare on </a:t>
            </a:r>
            <a:r>
              <a:rPr lang="en-GB" sz="2400" noProof="0" err="1">
                <a:ea typeface="+mn-lt"/>
                <a:cs typeface="+mn-lt"/>
              </a:rPr>
              <a:t>Olist</a:t>
            </a:r>
            <a:r>
              <a:rPr lang="en-GB" sz="2400" noProof="0">
                <a:ea typeface="+mn-lt"/>
                <a:cs typeface="+mn-lt"/>
              </a:rPr>
              <a:t> - but the few repeat customers come from specific high-loyalty categories</a:t>
            </a:r>
            <a:endParaRPr lang="en-GB" noProof="0"/>
          </a:p>
        </p:txBody>
      </p:sp>
      <p:sp>
        <p:nvSpPr>
          <p:cNvPr id="28" name="Rectangle 1">
            <a:extLst>
              <a:ext uri="{FF2B5EF4-FFF2-40B4-BE49-F238E27FC236}">
                <a16:creationId xmlns:a16="http://schemas.microsoft.com/office/drawing/2014/main" id="{1997214E-D907-998C-5F68-26231696CA37}"/>
              </a:ext>
            </a:extLst>
          </p:cNvPr>
          <p:cNvSpPr txBox="1">
            <a:spLocks noChangeArrowheads="1"/>
          </p:cNvSpPr>
          <p:nvPr/>
        </p:nvSpPr>
        <p:spPr bwMode="auto">
          <a:xfrm>
            <a:off x="507396" y="2354435"/>
            <a:ext cx="3912599" cy="3600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algn="ctr">
              <a:buNone/>
            </a:pPr>
            <a:r>
              <a:rPr lang="en-GB" sz="1200" noProof="0">
                <a:solidFill>
                  <a:srgbClr val="000000"/>
                </a:solidFill>
                <a:latin typeface="Rockwell"/>
              </a:rPr>
              <a:t>Share of repeat customers and transaction volume</a:t>
            </a:r>
            <a:endParaRPr lang="en-GB" noProof="0"/>
          </a:p>
          <a:p>
            <a:pPr marL="0" indent="0" algn="ctr">
              <a:spcBef>
                <a:spcPct val="0"/>
              </a:spcBef>
              <a:spcAft>
                <a:spcPts val="600"/>
              </a:spcAft>
              <a:buClrTx/>
              <a:buSzTx/>
              <a:buNone/>
            </a:pPr>
            <a:endParaRPr lang="en-GB" sz="1200" noProof="0">
              <a:solidFill>
                <a:srgbClr val="000000"/>
              </a:solidFill>
            </a:endParaRPr>
          </a:p>
        </p:txBody>
      </p:sp>
      <p:sp>
        <p:nvSpPr>
          <p:cNvPr id="29" name="Rectangle 1">
            <a:extLst>
              <a:ext uri="{FF2B5EF4-FFF2-40B4-BE49-F238E27FC236}">
                <a16:creationId xmlns:a16="http://schemas.microsoft.com/office/drawing/2014/main" id="{E32C4EC7-2020-8663-4656-1946A0B25E38}"/>
              </a:ext>
            </a:extLst>
          </p:cNvPr>
          <p:cNvSpPr txBox="1">
            <a:spLocks noChangeArrowheads="1"/>
          </p:cNvSpPr>
          <p:nvPr/>
        </p:nvSpPr>
        <p:spPr bwMode="auto">
          <a:xfrm>
            <a:off x="4835364" y="2354435"/>
            <a:ext cx="6551995" cy="3600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algn="ctr">
              <a:buNone/>
            </a:pPr>
            <a:r>
              <a:rPr lang="en-GB" sz="1200" noProof="0">
                <a:solidFill>
                  <a:srgbClr val="000000"/>
                </a:solidFill>
                <a:latin typeface="Rockwell"/>
              </a:rPr>
              <a:t>Top product categories by repeat rate</a:t>
            </a:r>
            <a:endParaRPr lang="en-GB" noProof="0"/>
          </a:p>
          <a:p>
            <a:pPr marL="0" indent="0" algn="ctr">
              <a:spcBef>
                <a:spcPct val="0"/>
              </a:spcBef>
              <a:spcAft>
                <a:spcPts val="600"/>
              </a:spcAft>
              <a:buClrTx/>
              <a:buSzTx/>
              <a:buNone/>
            </a:pPr>
            <a:endParaRPr lang="en-GB" sz="1200" noProof="0">
              <a:solidFill>
                <a:srgbClr val="000000"/>
              </a:solidFill>
            </a:endParaRPr>
          </a:p>
        </p:txBody>
      </p:sp>
      <p:pic>
        <p:nvPicPr>
          <p:cNvPr id="5" name="Picture 4" descr="A graph of blue and white bars&#10;&#10;AI-generated content may be incorrect.">
            <a:extLst>
              <a:ext uri="{FF2B5EF4-FFF2-40B4-BE49-F238E27FC236}">
                <a16:creationId xmlns:a16="http://schemas.microsoft.com/office/drawing/2014/main" id="{E80A89FA-1BBA-FE74-1D90-2855B5E25470}"/>
              </a:ext>
            </a:extLst>
          </p:cNvPr>
          <p:cNvPicPr>
            <a:picLocks noChangeAspect="1"/>
          </p:cNvPicPr>
          <p:nvPr/>
        </p:nvPicPr>
        <p:blipFill>
          <a:blip r:embed="rId2"/>
          <a:stretch>
            <a:fillRect/>
          </a:stretch>
        </p:blipFill>
        <p:spPr>
          <a:xfrm>
            <a:off x="4835365" y="2590937"/>
            <a:ext cx="6552000" cy="4093343"/>
          </a:xfrm>
          <a:prstGeom prst="rect">
            <a:avLst/>
          </a:prstGeom>
        </p:spPr>
      </p:pic>
      <p:pic>
        <p:nvPicPr>
          <p:cNvPr id="4" name="Picture 3" descr="A graph of percentages&#10;&#10;AI-generated content may be incorrect.">
            <a:extLst>
              <a:ext uri="{FF2B5EF4-FFF2-40B4-BE49-F238E27FC236}">
                <a16:creationId xmlns:a16="http://schemas.microsoft.com/office/drawing/2014/main" id="{7E439726-4F9B-310C-E6D5-AC8F7EBFD4B9}"/>
              </a:ext>
            </a:extLst>
          </p:cNvPr>
          <p:cNvPicPr>
            <a:picLocks noChangeAspect="1"/>
          </p:cNvPicPr>
          <p:nvPr/>
        </p:nvPicPr>
        <p:blipFill>
          <a:blip r:embed="rId3"/>
          <a:stretch>
            <a:fillRect/>
          </a:stretch>
        </p:blipFill>
        <p:spPr>
          <a:xfrm>
            <a:off x="963529" y="2591134"/>
            <a:ext cx="2852154" cy="4088732"/>
          </a:xfrm>
          <a:prstGeom prst="rect">
            <a:avLst/>
          </a:prstGeom>
        </p:spPr>
      </p:pic>
      <p:sp>
        <p:nvSpPr>
          <p:cNvPr id="6" name="Slide Number Placeholder 5">
            <a:extLst>
              <a:ext uri="{FF2B5EF4-FFF2-40B4-BE49-F238E27FC236}">
                <a16:creationId xmlns:a16="http://schemas.microsoft.com/office/drawing/2014/main" id="{7E341267-987C-2FB3-23FA-C4AFF26A5AD7}"/>
              </a:ext>
            </a:extLst>
          </p:cNvPr>
          <p:cNvSpPr>
            <a:spLocks noGrp="1"/>
          </p:cNvSpPr>
          <p:nvPr>
            <p:ph type="sldNum" sz="quarter" idx="12"/>
          </p:nvPr>
        </p:nvSpPr>
        <p:spPr/>
        <p:txBody>
          <a:bodyPr/>
          <a:lstStyle/>
          <a:p>
            <a:r>
              <a:rPr lang="en-GB" noProof="0"/>
              <a:t>6</a:t>
            </a:r>
          </a:p>
        </p:txBody>
      </p:sp>
      <p:sp>
        <p:nvSpPr>
          <p:cNvPr id="2" name="Rectangle 1">
            <a:extLst>
              <a:ext uri="{FF2B5EF4-FFF2-40B4-BE49-F238E27FC236}">
                <a16:creationId xmlns:a16="http://schemas.microsoft.com/office/drawing/2014/main" id="{A75C8034-6D42-357A-8EC5-D690D3676513}"/>
              </a:ext>
            </a:extLst>
          </p:cNvPr>
          <p:cNvSpPr txBox="1">
            <a:spLocks noChangeArrowheads="1"/>
          </p:cNvSpPr>
          <p:nvPr/>
        </p:nvSpPr>
        <p:spPr bwMode="auto">
          <a:xfrm>
            <a:off x="506565" y="1449795"/>
            <a:ext cx="3748545" cy="7200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fontScale="92500" lnSpcReduction="20000"/>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a:lnSpc>
                <a:spcPct val="110000"/>
              </a:lnSpc>
              <a:spcBef>
                <a:spcPct val="0"/>
              </a:spcBef>
              <a:spcAft>
                <a:spcPts val="600"/>
              </a:spcAft>
              <a:buNone/>
            </a:pPr>
            <a:r>
              <a:rPr lang="en-GB" sz="1600" noProof="0">
                <a:ea typeface="+mn-lt"/>
                <a:cs typeface="+mn-lt"/>
              </a:rPr>
              <a:t>Although 97% of customers purchase only once, the 3% who return contribute 12% of total transaction volume.</a:t>
            </a:r>
          </a:p>
        </p:txBody>
      </p:sp>
    </p:spTree>
    <p:extLst>
      <p:ext uri="{BB962C8B-B14F-4D97-AF65-F5344CB8AC3E}">
        <p14:creationId xmlns:p14="http://schemas.microsoft.com/office/powerpoint/2010/main" val="41459162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A6F44-95B1-1349-666E-5868051B61DF}"/>
            </a:ext>
          </a:extLst>
        </p:cNvPr>
        <p:cNvGrpSpPr/>
        <p:nvPr/>
      </p:nvGrpSpPr>
      <p:grpSpPr>
        <a:xfrm>
          <a:off x="0" y="0"/>
          <a:ext cx="0" cy="0"/>
          <a:chOff x="0" y="0"/>
          <a:chExt cx="0" cy="0"/>
        </a:xfrm>
      </p:grpSpPr>
      <p:sp>
        <p:nvSpPr>
          <p:cNvPr id="11" name="Rectangle 1">
            <a:extLst>
              <a:ext uri="{FF2B5EF4-FFF2-40B4-BE49-F238E27FC236}">
                <a16:creationId xmlns:a16="http://schemas.microsoft.com/office/drawing/2014/main" id="{887D6E1A-844F-35AF-6857-7BE757A73816}"/>
              </a:ext>
            </a:extLst>
          </p:cNvPr>
          <p:cNvSpPr>
            <a:spLocks noGrp="1" noChangeArrowheads="1"/>
          </p:cNvSpPr>
          <p:nvPr>
            <p:ph idx="1"/>
          </p:nvPr>
        </p:nvSpPr>
        <p:spPr bwMode="auto">
          <a:xfrm>
            <a:off x="526284" y="369794"/>
            <a:ext cx="10696577" cy="112805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Autofit/>
          </a:bodyPr>
          <a:lstStyle/>
          <a:p>
            <a:pPr marL="0" indent="0">
              <a:spcBef>
                <a:spcPct val="0"/>
              </a:spcBef>
              <a:spcAft>
                <a:spcPts val="600"/>
              </a:spcAft>
              <a:buNone/>
            </a:pPr>
            <a:r>
              <a:rPr lang="en-GB" sz="2400" noProof="0">
                <a:ea typeface="+mn-lt"/>
                <a:cs typeface="+mn-lt"/>
              </a:rPr>
              <a:t>Category-level repeat behaviour analysis reveals four unique strategic segments that will need targeted attention</a:t>
            </a:r>
            <a:endParaRPr lang="en-GB" noProof="0"/>
          </a:p>
        </p:txBody>
      </p:sp>
      <p:sp>
        <p:nvSpPr>
          <p:cNvPr id="17" name="Rectangle 1">
            <a:extLst>
              <a:ext uri="{FF2B5EF4-FFF2-40B4-BE49-F238E27FC236}">
                <a16:creationId xmlns:a16="http://schemas.microsoft.com/office/drawing/2014/main" id="{9C4BB757-776F-761A-CAEE-9332502AF0BA}"/>
              </a:ext>
            </a:extLst>
          </p:cNvPr>
          <p:cNvSpPr txBox="1">
            <a:spLocks noChangeArrowheads="1"/>
          </p:cNvSpPr>
          <p:nvPr/>
        </p:nvSpPr>
        <p:spPr bwMode="auto">
          <a:xfrm>
            <a:off x="524081" y="1393575"/>
            <a:ext cx="10559587" cy="5400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a:spcBef>
                <a:spcPct val="0"/>
              </a:spcBef>
              <a:spcAft>
                <a:spcPts val="600"/>
              </a:spcAft>
              <a:buNone/>
            </a:pPr>
            <a:r>
              <a:rPr lang="en-GB" sz="1500" noProof="0">
                <a:ea typeface="+mn-lt"/>
                <a:cs typeface="+mn-lt"/>
              </a:rPr>
              <a:t>Based on repeat patterns we can divide categories into four groups that require distinct marketing strategies. High-repeat but small-base categories offer the greatest potential for growth.</a:t>
            </a:r>
          </a:p>
        </p:txBody>
      </p:sp>
      <p:cxnSp>
        <p:nvCxnSpPr>
          <p:cNvPr id="8" name="Gerader Verbinder 7">
            <a:extLst>
              <a:ext uri="{FF2B5EF4-FFF2-40B4-BE49-F238E27FC236}">
                <a16:creationId xmlns:a16="http://schemas.microsoft.com/office/drawing/2014/main" id="{8D0947A5-4595-A0B5-AD58-71D7308B2783}"/>
              </a:ext>
            </a:extLst>
          </p:cNvPr>
          <p:cNvCxnSpPr>
            <a:cxnSpLocks/>
          </p:cNvCxnSpPr>
          <p:nvPr/>
        </p:nvCxnSpPr>
        <p:spPr>
          <a:xfrm>
            <a:off x="515323" y="1933575"/>
            <a:ext cx="10559587"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Rectangle 1">
            <a:extLst>
              <a:ext uri="{FF2B5EF4-FFF2-40B4-BE49-F238E27FC236}">
                <a16:creationId xmlns:a16="http://schemas.microsoft.com/office/drawing/2014/main" id="{398E0B09-E2F6-3E26-E186-E35E0603E4E9}"/>
              </a:ext>
            </a:extLst>
          </p:cNvPr>
          <p:cNvSpPr txBox="1">
            <a:spLocks noChangeArrowheads="1"/>
          </p:cNvSpPr>
          <p:nvPr/>
        </p:nvSpPr>
        <p:spPr bwMode="auto">
          <a:xfrm>
            <a:off x="496273" y="2069201"/>
            <a:ext cx="10587395" cy="2520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algn="ctr">
              <a:buNone/>
            </a:pPr>
            <a:r>
              <a:rPr lang="en-GB" sz="1200" noProof="0">
                <a:solidFill>
                  <a:srgbClr val="000000"/>
                </a:solidFill>
                <a:latin typeface="Rockwell"/>
              </a:rPr>
              <a:t>Repeat Behaviour vs Customer Base by Category</a:t>
            </a:r>
            <a:endParaRPr lang="en-GB" noProof="0"/>
          </a:p>
          <a:p>
            <a:pPr marL="0" indent="0" algn="ctr">
              <a:spcBef>
                <a:spcPct val="0"/>
              </a:spcBef>
              <a:spcAft>
                <a:spcPts val="600"/>
              </a:spcAft>
              <a:buClrTx/>
              <a:buSzTx/>
              <a:buNone/>
            </a:pPr>
            <a:endParaRPr lang="en-GB" sz="1200" noProof="0">
              <a:solidFill>
                <a:srgbClr val="000000"/>
              </a:solidFill>
            </a:endParaRPr>
          </a:p>
        </p:txBody>
      </p:sp>
      <p:sp>
        <p:nvSpPr>
          <p:cNvPr id="3" name="Slide Number Placeholder 2">
            <a:extLst>
              <a:ext uri="{FF2B5EF4-FFF2-40B4-BE49-F238E27FC236}">
                <a16:creationId xmlns:a16="http://schemas.microsoft.com/office/drawing/2014/main" id="{DE7FFBDF-39CF-422F-A112-79F1E9B456B7}"/>
              </a:ext>
            </a:extLst>
          </p:cNvPr>
          <p:cNvSpPr>
            <a:spLocks noGrp="1"/>
          </p:cNvSpPr>
          <p:nvPr>
            <p:ph type="sldNum" sz="quarter" idx="12"/>
          </p:nvPr>
        </p:nvSpPr>
        <p:spPr/>
        <p:txBody>
          <a:bodyPr/>
          <a:lstStyle/>
          <a:p>
            <a:r>
              <a:rPr lang="en-GB" noProof="0"/>
              <a:t>7</a:t>
            </a:r>
          </a:p>
        </p:txBody>
      </p:sp>
      <p:pic>
        <p:nvPicPr>
          <p:cNvPr id="7" name="Picture 6" descr="A graph of a number of customers&#10;&#10;AI-generated content may be incorrect.">
            <a:extLst>
              <a:ext uri="{FF2B5EF4-FFF2-40B4-BE49-F238E27FC236}">
                <a16:creationId xmlns:a16="http://schemas.microsoft.com/office/drawing/2014/main" id="{27211EDF-DC15-9296-1526-B2C2C6A8D12B}"/>
              </a:ext>
            </a:extLst>
          </p:cNvPr>
          <p:cNvPicPr>
            <a:picLocks noChangeAspect="1"/>
          </p:cNvPicPr>
          <p:nvPr/>
        </p:nvPicPr>
        <p:blipFill>
          <a:blip r:embed="rId2"/>
          <a:stretch>
            <a:fillRect/>
          </a:stretch>
        </p:blipFill>
        <p:spPr>
          <a:xfrm>
            <a:off x="1183509" y="2312315"/>
            <a:ext cx="9382126" cy="4325596"/>
          </a:xfrm>
          <a:prstGeom prst="rect">
            <a:avLst/>
          </a:prstGeom>
        </p:spPr>
      </p:pic>
    </p:spTree>
    <p:extLst>
      <p:ext uri="{BB962C8B-B14F-4D97-AF65-F5344CB8AC3E}">
        <p14:creationId xmlns:p14="http://schemas.microsoft.com/office/powerpoint/2010/main" val="4286943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9717F-F98D-9A57-2626-9BC45B158B23}"/>
            </a:ext>
          </a:extLst>
        </p:cNvPr>
        <p:cNvGrpSpPr/>
        <p:nvPr/>
      </p:nvGrpSpPr>
      <p:grpSpPr>
        <a:xfrm>
          <a:off x="0" y="0"/>
          <a:ext cx="0" cy="0"/>
          <a:chOff x="0" y="0"/>
          <a:chExt cx="0" cy="0"/>
        </a:xfrm>
      </p:grpSpPr>
      <p:sp>
        <p:nvSpPr>
          <p:cNvPr id="11" name="Rectangle 1">
            <a:extLst>
              <a:ext uri="{FF2B5EF4-FFF2-40B4-BE49-F238E27FC236}">
                <a16:creationId xmlns:a16="http://schemas.microsoft.com/office/drawing/2014/main" id="{9ADF3433-9645-7FF7-69A1-824EF1470C5A}"/>
              </a:ext>
            </a:extLst>
          </p:cNvPr>
          <p:cNvSpPr>
            <a:spLocks noGrp="1" noChangeArrowheads="1"/>
          </p:cNvSpPr>
          <p:nvPr>
            <p:ph idx="1"/>
          </p:nvPr>
        </p:nvSpPr>
        <p:spPr bwMode="auto">
          <a:xfrm>
            <a:off x="526288" y="369795"/>
            <a:ext cx="10696577" cy="7200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Autofit/>
          </a:bodyPr>
          <a:lstStyle/>
          <a:p>
            <a:pPr marL="0" indent="0">
              <a:spcBef>
                <a:spcPct val="0"/>
              </a:spcBef>
              <a:spcAft>
                <a:spcPts val="600"/>
              </a:spcAft>
              <a:buNone/>
            </a:pPr>
            <a:r>
              <a:rPr lang="en-GB" sz="2400" noProof="0"/>
              <a:t>Customer loyalty varies sharply by payment behaviour, obscuring the true drivers of repeat purchases</a:t>
            </a:r>
            <a:endParaRPr lang="en-GB" noProof="0"/>
          </a:p>
        </p:txBody>
      </p:sp>
      <p:sp>
        <p:nvSpPr>
          <p:cNvPr id="17" name="Rectangle 1">
            <a:extLst>
              <a:ext uri="{FF2B5EF4-FFF2-40B4-BE49-F238E27FC236}">
                <a16:creationId xmlns:a16="http://schemas.microsoft.com/office/drawing/2014/main" id="{FD24F511-98DE-35C8-C479-E39F681615E7}"/>
              </a:ext>
            </a:extLst>
          </p:cNvPr>
          <p:cNvSpPr txBox="1">
            <a:spLocks noChangeArrowheads="1"/>
          </p:cNvSpPr>
          <p:nvPr/>
        </p:nvSpPr>
        <p:spPr bwMode="auto">
          <a:xfrm>
            <a:off x="527418" y="1449795"/>
            <a:ext cx="5207905" cy="7200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a:spcBef>
                <a:spcPct val="0"/>
              </a:spcBef>
              <a:spcAft>
                <a:spcPts val="600"/>
              </a:spcAft>
              <a:buNone/>
            </a:pPr>
            <a:r>
              <a:rPr lang="en-GB" sz="1500" noProof="0">
                <a:ea typeface="+mn-lt"/>
                <a:cs typeface="+mn-lt"/>
              </a:rPr>
              <a:t>Payment methods attract different customer segments: Voucher and credit-card users stand out for their meaningfully higher repeat rates.</a:t>
            </a:r>
            <a:endParaRPr lang="en-GB" sz="1500" noProof="0"/>
          </a:p>
        </p:txBody>
      </p:sp>
      <p:sp>
        <p:nvSpPr>
          <p:cNvPr id="25" name="Rectangle 1">
            <a:extLst>
              <a:ext uri="{FF2B5EF4-FFF2-40B4-BE49-F238E27FC236}">
                <a16:creationId xmlns:a16="http://schemas.microsoft.com/office/drawing/2014/main" id="{51D8EC45-762B-179D-B5AE-6853A0320D9F}"/>
              </a:ext>
            </a:extLst>
          </p:cNvPr>
          <p:cNvSpPr txBox="1">
            <a:spLocks noChangeArrowheads="1"/>
          </p:cNvSpPr>
          <p:nvPr/>
        </p:nvSpPr>
        <p:spPr bwMode="auto">
          <a:xfrm>
            <a:off x="6456677" y="1449795"/>
            <a:ext cx="5220000" cy="7200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a:spcBef>
                <a:spcPct val="0"/>
              </a:spcBef>
              <a:spcAft>
                <a:spcPts val="600"/>
              </a:spcAft>
              <a:buNone/>
            </a:pPr>
            <a:r>
              <a:rPr lang="en-GB" sz="1500" noProof="0">
                <a:ea typeface="+mn-lt"/>
                <a:cs typeface="+mn-lt"/>
              </a:rPr>
              <a:t>Significant usage of the current 10-installment option indicates interest in higher numbers of instalments, unlocking high value orders.</a:t>
            </a:r>
            <a:endParaRPr lang="en-GB" sz="1500" noProof="0"/>
          </a:p>
        </p:txBody>
      </p:sp>
      <p:cxnSp>
        <p:nvCxnSpPr>
          <p:cNvPr id="22" name="Gerader Verbinder 21">
            <a:extLst>
              <a:ext uri="{FF2B5EF4-FFF2-40B4-BE49-F238E27FC236}">
                <a16:creationId xmlns:a16="http://schemas.microsoft.com/office/drawing/2014/main" id="{00677239-A71B-1436-A186-3CB2355D95BA}"/>
              </a:ext>
            </a:extLst>
          </p:cNvPr>
          <p:cNvCxnSpPr>
            <a:cxnSpLocks/>
          </p:cNvCxnSpPr>
          <p:nvPr/>
        </p:nvCxnSpPr>
        <p:spPr>
          <a:xfrm>
            <a:off x="6103620" y="1449795"/>
            <a:ext cx="0" cy="486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10D62590-E334-A323-98F8-23784F746435}"/>
              </a:ext>
            </a:extLst>
          </p:cNvPr>
          <p:cNvCxnSpPr>
            <a:cxnSpLocks/>
          </p:cNvCxnSpPr>
          <p:nvPr/>
        </p:nvCxnSpPr>
        <p:spPr>
          <a:xfrm>
            <a:off x="515323" y="2169795"/>
            <a:ext cx="5220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Gerader Verbinder 25">
            <a:extLst>
              <a:ext uri="{FF2B5EF4-FFF2-40B4-BE49-F238E27FC236}">
                <a16:creationId xmlns:a16="http://schemas.microsoft.com/office/drawing/2014/main" id="{DC872007-3011-93E7-1006-592556097865}"/>
              </a:ext>
            </a:extLst>
          </p:cNvPr>
          <p:cNvCxnSpPr>
            <a:cxnSpLocks/>
          </p:cNvCxnSpPr>
          <p:nvPr/>
        </p:nvCxnSpPr>
        <p:spPr>
          <a:xfrm>
            <a:off x="6456679" y="2169795"/>
            <a:ext cx="5220000"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Rectangle 1">
            <a:extLst>
              <a:ext uri="{FF2B5EF4-FFF2-40B4-BE49-F238E27FC236}">
                <a16:creationId xmlns:a16="http://schemas.microsoft.com/office/drawing/2014/main" id="{C7D2CACB-8C6F-F9D8-2FF5-65365F1E8527}"/>
              </a:ext>
            </a:extLst>
          </p:cNvPr>
          <p:cNvSpPr txBox="1">
            <a:spLocks noChangeArrowheads="1"/>
          </p:cNvSpPr>
          <p:nvPr/>
        </p:nvSpPr>
        <p:spPr bwMode="auto">
          <a:xfrm>
            <a:off x="515322" y="2356855"/>
            <a:ext cx="5246729" cy="2520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algn="ctr">
              <a:buNone/>
            </a:pPr>
            <a:r>
              <a:rPr lang="en-GB" sz="1200" noProof="0">
                <a:solidFill>
                  <a:srgbClr val="000000"/>
                </a:solidFill>
                <a:latin typeface="Rockwell"/>
              </a:rPr>
              <a:t>Repeat rate by payment method</a:t>
            </a:r>
            <a:endParaRPr lang="en-GB" sz="1200" noProof="0">
              <a:solidFill>
                <a:srgbClr val="000000"/>
              </a:solidFill>
            </a:endParaRPr>
          </a:p>
        </p:txBody>
      </p:sp>
      <p:sp>
        <p:nvSpPr>
          <p:cNvPr id="7" name="Rectangle 1">
            <a:extLst>
              <a:ext uri="{FF2B5EF4-FFF2-40B4-BE49-F238E27FC236}">
                <a16:creationId xmlns:a16="http://schemas.microsoft.com/office/drawing/2014/main" id="{313170AE-7B07-B8BC-D880-DDD7F81F71C3}"/>
              </a:ext>
            </a:extLst>
          </p:cNvPr>
          <p:cNvSpPr txBox="1">
            <a:spLocks noChangeArrowheads="1"/>
          </p:cNvSpPr>
          <p:nvPr/>
        </p:nvSpPr>
        <p:spPr bwMode="auto">
          <a:xfrm>
            <a:off x="6456672" y="2356854"/>
            <a:ext cx="5220000" cy="21765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algn="ctr">
              <a:buNone/>
            </a:pPr>
            <a:r>
              <a:rPr lang="en-GB" sz="1200" noProof="0">
                <a:solidFill>
                  <a:srgbClr val="000000"/>
                </a:solidFill>
                <a:latin typeface="Rockwell"/>
              </a:rPr>
              <a:t>Payment value vs number of credit instalments</a:t>
            </a:r>
            <a:endParaRPr lang="en-GB" sz="1200" noProof="0">
              <a:solidFill>
                <a:srgbClr val="000000"/>
              </a:solidFill>
            </a:endParaRPr>
          </a:p>
        </p:txBody>
      </p:sp>
      <p:pic>
        <p:nvPicPr>
          <p:cNvPr id="19" name="Grafik 18">
            <a:extLst>
              <a:ext uri="{FF2B5EF4-FFF2-40B4-BE49-F238E27FC236}">
                <a16:creationId xmlns:a16="http://schemas.microsoft.com/office/drawing/2014/main" id="{04D37EA2-1AE9-6302-47CF-971962D0B713}"/>
              </a:ext>
            </a:extLst>
          </p:cNvPr>
          <p:cNvPicPr>
            <a:picLocks noChangeAspect="1"/>
          </p:cNvPicPr>
          <p:nvPr/>
        </p:nvPicPr>
        <p:blipFill>
          <a:blip r:embed="rId2"/>
          <a:stretch>
            <a:fillRect/>
          </a:stretch>
        </p:blipFill>
        <p:spPr>
          <a:xfrm>
            <a:off x="6445185" y="2668914"/>
            <a:ext cx="5249629" cy="3326211"/>
          </a:xfrm>
          <a:prstGeom prst="rect">
            <a:avLst/>
          </a:prstGeom>
        </p:spPr>
      </p:pic>
      <p:sp>
        <p:nvSpPr>
          <p:cNvPr id="6" name="Slide Number Placeholder 5">
            <a:extLst>
              <a:ext uri="{FF2B5EF4-FFF2-40B4-BE49-F238E27FC236}">
                <a16:creationId xmlns:a16="http://schemas.microsoft.com/office/drawing/2014/main" id="{DD31A4F7-C382-23C6-20E7-A93B0B4E53FE}"/>
              </a:ext>
            </a:extLst>
          </p:cNvPr>
          <p:cNvSpPr>
            <a:spLocks noGrp="1"/>
          </p:cNvSpPr>
          <p:nvPr>
            <p:ph type="sldNum" sz="quarter" idx="12"/>
          </p:nvPr>
        </p:nvSpPr>
        <p:spPr/>
        <p:txBody>
          <a:bodyPr/>
          <a:lstStyle/>
          <a:p>
            <a:r>
              <a:rPr lang="en-GB" noProof="0"/>
              <a:t>8</a:t>
            </a:r>
          </a:p>
        </p:txBody>
      </p:sp>
      <p:pic>
        <p:nvPicPr>
          <p:cNvPr id="2" name="Picture 1" descr="A graph of blue rectangles with white text&#10;&#10;AI-generated content may be incorrect.">
            <a:extLst>
              <a:ext uri="{FF2B5EF4-FFF2-40B4-BE49-F238E27FC236}">
                <a16:creationId xmlns:a16="http://schemas.microsoft.com/office/drawing/2014/main" id="{7C7C336B-4DA3-3137-C763-1CA790683AD4}"/>
              </a:ext>
            </a:extLst>
          </p:cNvPr>
          <p:cNvPicPr>
            <a:picLocks noChangeAspect="1"/>
          </p:cNvPicPr>
          <p:nvPr/>
        </p:nvPicPr>
        <p:blipFill>
          <a:blip r:embed="rId3"/>
          <a:stretch>
            <a:fillRect/>
          </a:stretch>
        </p:blipFill>
        <p:spPr>
          <a:xfrm>
            <a:off x="316832" y="2668002"/>
            <a:ext cx="5629443" cy="3460417"/>
          </a:xfrm>
          <a:prstGeom prst="rect">
            <a:avLst/>
          </a:prstGeom>
        </p:spPr>
      </p:pic>
    </p:spTree>
    <p:extLst>
      <p:ext uri="{BB962C8B-B14F-4D97-AF65-F5344CB8AC3E}">
        <p14:creationId xmlns:p14="http://schemas.microsoft.com/office/powerpoint/2010/main" val="19444216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ADECE-0340-9E2C-DE0D-312E59258F55}"/>
            </a:ext>
          </a:extLst>
        </p:cNvPr>
        <p:cNvGrpSpPr/>
        <p:nvPr/>
      </p:nvGrpSpPr>
      <p:grpSpPr>
        <a:xfrm>
          <a:off x="0" y="0"/>
          <a:ext cx="0" cy="0"/>
          <a:chOff x="0" y="0"/>
          <a:chExt cx="0" cy="0"/>
        </a:xfrm>
      </p:grpSpPr>
      <p:sp>
        <p:nvSpPr>
          <p:cNvPr id="11" name="Rectangle 1">
            <a:extLst>
              <a:ext uri="{FF2B5EF4-FFF2-40B4-BE49-F238E27FC236}">
                <a16:creationId xmlns:a16="http://schemas.microsoft.com/office/drawing/2014/main" id="{6C58AEF7-7D46-2C10-63F8-67AD16AE5243}"/>
              </a:ext>
            </a:extLst>
          </p:cNvPr>
          <p:cNvSpPr>
            <a:spLocks noGrp="1" noChangeArrowheads="1"/>
          </p:cNvSpPr>
          <p:nvPr>
            <p:ph idx="1"/>
          </p:nvPr>
        </p:nvSpPr>
        <p:spPr bwMode="auto">
          <a:xfrm>
            <a:off x="526288" y="369795"/>
            <a:ext cx="10696577" cy="7200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Autofit/>
          </a:bodyPr>
          <a:lstStyle/>
          <a:p>
            <a:pPr marL="0" indent="0" eaLnBrk="0" fontAlgn="base" hangingPunct="0">
              <a:spcBef>
                <a:spcPct val="0"/>
              </a:spcBef>
              <a:spcAft>
                <a:spcPts val="600"/>
              </a:spcAft>
              <a:buClrTx/>
              <a:buSzTx/>
              <a:buNone/>
            </a:pPr>
            <a:r>
              <a:rPr lang="en-GB" sz="2400" noProof="0"/>
              <a:t>A highly fragmented and inconsistent category system obscures true product performance</a:t>
            </a:r>
            <a:endParaRPr lang="en-GB" sz="2400" noProof="0">
              <a:solidFill>
                <a:srgbClr val="DD462F"/>
              </a:solidFill>
            </a:endParaRPr>
          </a:p>
        </p:txBody>
      </p:sp>
      <p:sp>
        <p:nvSpPr>
          <p:cNvPr id="17" name="Rectangle 1">
            <a:extLst>
              <a:ext uri="{FF2B5EF4-FFF2-40B4-BE49-F238E27FC236}">
                <a16:creationId xmlns:a16="http://schemas.microsoft.com/office/drawing/2014/main" id="{4D3937A3-658B-4C55-09B9-CA971014E153}"/>
              </a:ext>
            </a:extLst>
          </p:cNvPr>
          <p:cNvSpPr txBox="1">
            <a:spLocks noChangeArrowheads="1"/>
          </p:cNvSpPr>
          <p:nvPr/>
        </p:nvSpPr>
        <p:spPr bwMode="auto">
          <a:xfrm>
            <a:off x="515323" y="1449795"/>
            <a:ext cx="5220000" cy="7200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eaLnBrk="0" fontAlgn="base" hangingPunct="0">
              <a:spcBef>
                <a:spcPct val="0"/>
              </a:spcBef>
              <a:spcAft>
                <a:spcPts val="600"/>
              </a:spcAft>
              <a:buClrTx/>
              <a:buSzTx/>
              <a:buNone/>
            </a:pPr>
            <a:r>
              <a:rPr lang="en-GB" sz="1500" noProof="0"/>
              <a:t>An uncontrolled category system: a long tail of tiny categories and inconsistent naming makes systematic analysis impossible.</a:t>
            </a:r>
            <a:endParaRPr lang="en-GB" sz="1500" noProof="0">
              <a:solidFill>
                <a:srgbClr val="DD462F"/>
              </a:solidFill>
            </a:endParaRPr>
          </a:p>
        </p:txBody>
      </p:sp>
      <p:cxnSp>
        <p:nvCxnSpPr>
          <p:cNvPr id="22" name="Gerader Verbinder 21">
            <a:extLst>
              <a:ext uri="{FF2B5EF4-FFF2-40B4-BE49-F238E27FC236}">
                <a16:creationId xmlns:a16="http://schemas.microsoft.com/office/drawing/2014/main" id="{483DA808-D945-E876-C77C-065E0266A13C}"/>
              </a:ext>
            </a:extLst>
          </p:cNvPr>
          <p:cNvCxnSpPr>
            <a:cxnSpLocks/>
          </p:cNvCxnSpPr>
          <p:nvPr/>
        </p:nvCxnSpPr>
        <p:spPr>
          <a:xfrm>
            <a:off x="6103620" y="1449795"/>
            <a:ext cx="0" cy="486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90B67BDE-81AA-6BDB-D952-E6B0211B7024}"/>
              </a:ext>
            </a:extLst>
          </p:cNvPr>
          <p:cNvCxnSpPr>
            <a:cxnSpLocks/>
          </p:cNvCxnSpPr>
          <p:nvPr/>
        </p:nvCxnSpPr>
        <p:spPr>
          <a:xfrm>
            <a:off x="515323" y="2169795"/>
            <a:ext cx="5220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Gerader Verbinder 25">
            <a:extLst>
              <a:ext uri="{FF2B5EF4-FFF2-40B4-BE49-F238E27FC236}">
                <a16:creationId xmlns:a16="http://schemas.microsoft.com/office/drawing/2014/main" id="{3A0E5740-B1B7-AA39-9685-8409779F6932}"/>
              </a:ext>
            </a:extLst>
          </p:cNvPr>
          <p:cNvCxnSpPr>
            <a:cxnSpLocks/>
          </p:cNvCxnSpPr>
          <p:nvPr/>
        </p:nvCxnSpPr>
        <p:spPr>
          <a:xfrm>
            <a:off x="6456679" y="2169795"/>
            <a:ext cx="5220000"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Rectangle 1">
            <a:extLst>
              <a:ext uri="{FF2B5EF4-FFF2-40B4-BE49-F238E27FC236}">
                <a16:creationId xmlns:a16="http://schemas.microsoft.com/office/drawing/2014/main" id="{6AAE9311-0E89-6818-943C-02D4C9793D98}"/>
              </a:ext>
            </a:extLst>
          </p:cNvPr>
          <p:cNvSpPr txBox="1">
            <a:spLocks noChangeArrowheads="1"/>
          </p:cNvSpPr>
          <p:nvPr/>
        </p:nvSpPr>
        <p:spPr bwMode="auto">
          <a:xfrm>
            <a:off x="515321" y="2354435"/>
            <a:ext cx="5137124" cy="3600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algn="ctr">
              <a:buNone/>
            </a:pPr>
            <a:r>
              <a:rPr lang="en-GB" sz="1200" noProof="0"/>
              <a:t>Long-tail distribution of product categories</a:t>
            </a:r>
          </a:p>
          <a:p>
            <a:pPr marL="0" indent="0" algn="ctr" eaLnBrk="0" fontAlgn="base" hangingPunct="0">
              <a:spcBef>
                <a:spcPct val="0"/>
              </a:spcBef>
              <a:spcAft>
                <a:spcPts val="600"/>
              </a:spcAft>
              <a:buClrTx/>
              <a:buSzTx/>
              <a:buNone/>
            </a:pPr>
            <a:endParaRPr lang="en-GB" sz="1200" noProof="0">
              <a:solidFill>
                <a:srgbClr val="DD462F"/>
              </a:solidFill>
            </a:endParaRPr>
          </a:p>
        </p:txBody>
      </p:sp>
      <p:pic>
        <p:nvPicPr>
          <p:cNvPr id="7" name="Picture 6">
            <a:extLst>
              <a:ext uri="{FF2B5EF4-FFF2-40B4-BE49-F238E27FC236}">
                <a16:creationId xmlns:a16="http://schemas.microsoft.com/office/drawing/2014/main" id="{454C9874-D89F-AF64-3E92-1E15F627F2CA}"/>
              </a:ext>
            </a:extLst>
          </p:cNvPr>
          <p:cNvPicPr>
            <a:picLocks noChangeAspect="1"/>
          </p:cNvPicPr>
          <p:nvPr/>
        </p:nvPicPr>
        <p:blipFill>
          <a:blip r:embed="rId2"/>
          <a:stretch>
            <a:fillRect/>
          </a:stretch>
        </p:blipFill>
        <p:spPr>
          <a:xfrm>
            <a:off x="342529" y="2529793"/>
            <a:ext cx="5594788" cy="4179636"/>
          </a:xfrm>
          <a:prstGeom prst="rect">
            <a:avLst/>
          </a:prstGeom>
        </p:spPr>
      </p:pic>
      <p:sp>
        <p:nvSpPr>
          <p:cNvPr id="10" name="Rectangle 1">
            <a:extLst>
              <a:ext uri="{FF2B5EF4-FFF2-40B4-BE49-F238E27FC236}">
                <a16:creationId xmlns:a16="http://schemas.microsoft.com/office/drawing/2014/main" id="{1E512E1C-7EDE-1FBE-6E4B-9C78FEBDF070}"/>
              </a:ext>
            </a:extLst>
          </p:cNvPr>
          <p:cNvSpPr txBox="1">
            <a:spLocks noChangeArrowheads="1"/>
          </p:cNvSpPr>
          <p:nvPr/>
        </p:nvSpPr>
        <p:spPr bwMode="auto">
          <a:xfrm>
            <a:off x="6471918" y="2354435"/>
            <a:ext cx="5287630" cy="3600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algn="ctr">
              <a:buNone/>
            </a:pPr>
            <a:r>
              <a:rPr lang="en-GB" sz="1200" noProof="0"/>
              <a:t>Category name similarity heatmap</a:t>
            </a:r>
          </a:p>
        </p:txBody>
      </p:sp>
      <p:pic>
        <p:nvPicPr>
          <p:cNvPr id="13" name="Picture 12">
            <a:extLst>
              <a:ext uri="{FF2B5EF4-FFF2-40B4-BE49-F238E27FC236}">
                <a16:creationId xmlns:a16="http://schemas.microsoft.com/office/drawing/2014/main" id="{6A8B8D13-18D2-FA64-88B6-92475302A2D7}"/>
              </a:ext>
            </a:extLst>
          </p:cNvPr>
          <p:cNvPicPr>
            <a:picLocks noChangeAspect="1"/>
          </p:cNvPicPr>
          <p:nvPr/>
        </p:nvPicPr>
        <p:blipFill>
          <a:blip r:embed="rId3"/>
          <a:stretch>
            <a:fillRect/>
          </a:stretch>
        </p:blipFill>
        <p:spPr>
          <a:xfrm>
            <a:off x="6717178" y="2647096"/>
            <a:ext cx="4491143" cy="3841109"/>
          </a:xfrm>
          <a:prstGeom prst="rect">
            <a:avLst/>
          </a:prstGeom>
        </p:spPr>
      </p:pic>
      <p:sp>
        <p:nvSpPr>
          <p:cNvPr id="14" name="Slide Number Placeholder 13">
            <a:extLst>
              <a:ext uri="{FF2B5EF4-FFF2-40B4-BE49-F238E27FC236}">
                <a16:creationId xmlns:a16="http://schemas.microsoft.com/office/drawing/2014/main" id="{A912932C-C361-4299-F0E4-BFABAE0C0E53}"/>
              </a:ext>
            </a:extLst>
          </p:cNvPr>
          <p:cNvSpPr>
            <a:spLocks noGrp="1"/>
          </p:cNvSpPr>
          <p:nvPr>
            <p:ph type="sldNum" sz="quarter" idx="12"/>
          </p:nvPr>
        </p:nvSpPr>
        <p:spPr/>
        <p:txBody>
          <a:bodyPr/>
          <a:lstStyle/>
          <a:p>
            <a:r>
              <a:rPr lang="en-GB" noProof="0"/>
              <a:t>9</a:t>
            </a:r>
          </a:p>
        </p:txBody>
      </p:sp>
      <p:sp>
        <p:nvSpPr>
          <p:cNvPr id="16" name="Rectangle 1">
            <a:extLst>
              <a:ext uri="{FF2B5EF4-FFF2-40B4-BE49-F238E27FC236}">
                <a16:creationId xmlns:a16="http://schemas.microsoft.com/office/drawing/2014/main" id="{496834D7-8530-2536-E65C-88E48956443F}"/>
              </a:ext>
            </a:extLst>
          </p:cNvPr>
          <p:cNvSpPr txBox="1">
            <a:spLocks noChangeArrowheads="1"/>
          </p:cNvSpPr>
          <p:nvPr/>
        </p:nvSpPr>
        <p:spPr bwMode="auto">
          <a:xfrm>
            <a:off x="6456679" y="1449795"/>
            <a:ext cx="5220000" cy="7200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marL="0" indent="0" eaLnBrk="0" fontAlgn="base" hangingPunct="0">
              <a:spcBef>
                <a:spcPct val="0"/>
              </a:spcBef>
              <a:spcAft>
                <a:spcPts val="600"/>
              </a:spcAft>
              <a:buClrTx/>
              <a:buSzTx/>
              <a:buNone/>
            </a:pPr>
            <a:r>
              <a:rPr lang="en-GB" sz="1500" noProof="0"/>
              <a:t>The heatmap shows many overlapping or duplicated category names, making it difficult to group products reliably and undermining category-level analysis.</a:t>
            </a:r>
          </a:p>
        </p:txBody>
      </p:sp>
    </p:spTree>
    <p:extLst>
      <p:ext uri="{BB962C8B-B14F-4D97-AF65-F5344CB8AC3E}">
        <p14:creationId xmlns:p14="http://schemas.microsoft.com/office/powerpoint/2010/main" val="41641288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7BDF9-148F-1E88-92EA-87FB5C18613D}"/>
            </a:ext>
          </a:extLst>
        </p:cNvPr>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E6B55156-336F-1E26-F4B8-FA5681D9EBA2}"/>
              </a:ext>
            </a:extLst>
          </p:cNvPr>
          <p:cNvGraphicFramePr/>
          <p:nvPr>
            <p:extLst>
              <p:ext uri="{D42A27DB-BD31-4B8C-83A1-F6EECF244321}">
                <p14:modId xmlns:p14="http://schemas.microsoft.com/office/powerpoint/2010/main" val="4215533985"/>
              </p:ext>
            </p:extLst>
          </p:nvPr>
        </p:nvGraphicFramePr>
        <p:xfrm>
          <a:off x="-1065681" y="5011634"/>
          <a:ext cx="13462000" cy="16093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Freihandform: Form 5">
            <a:extLst>
              <a:ext uri="{FF2B5EF4-FFF2-40B4-BE49-F238E27FC236}">
                <a16:creationId xmlns:a16="http://schemas.microsoft.com/office/drawing/2014/main" id="{9B6973B0-2131-DA77-FB3B-D49101DCAC0F}"/>
              </a:ext>
            </a:extLst>
          </p:cNvPr>
          <p:cNvSpPr/>
          <p:nvPr/>
        </p:nvSpPr>
        <p:spPr>
          <a:xfrm>
            <a:off x="557382" y="1567203"/>
            <a:ext cx="3148588" cy="2035069"/>
          </a:xfrm>
          <a:custGeom>
            <a:avLst/>
            <a:gdLst>
              <a:gd name="connsiteX0" fmla="*/ 169486 w 3140275"/>
              <a:gd name="connsiteY0" fmla="*/ 0 h 2118572"/>
              <a:gd name="connsiteX1" fmla="*/ 2970789 w 3140275"/>
              <a:gd name="connsiteY1" fmla="*/ 0 h 2118572"/>
              <a:gd name="connsiteX2" fmla="*/ 3140275 w 3140275"/>
              <a:gd name="connsiteY2" fmla="*/ 169486 h 2118572"/>
              <a:gd name="connsiteX3" fmla="*/ 3140275 w 3140275"/>
              <a:gd name="connsiteY3" fmla="*/ 2118572 h 2118572"/>
              <a:gd name="connsiteX4" fmla="*/ 3140275 w 3140275"/>
              <a:gd name="connsiteY4" fmla="*/ 2118572 h 2118572"/>
              <a:gd name="connsiteX5" fmla="*/ 0 w 3140275"/>
              <a:gd name="connsiteY5" fmla="*/ 2118572 h 2118572"/>
              <a:gd name="connsiteX6" fmla="*/ 0 w 3140275"/>
              <a:gd name="connsiteY6" fmla="*/ 2118572 h 2118572"/>
              <a:gd name="connsiteX7" fmla="*/ 0 w 3140275"/>
              <a:gd name="connsiteY7" fmla="*/ 169486 h 2118572"/>
              <a:gd name="connsiteX8" fmla="*/ 169486 w 3140275"/>
              <a:gd name="connsiteY8" fmla="*/ 0 h 2118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40275" h="2118572">
                <a:moveTo>
                  <a:pt x="169486" y="0"/>
                </a:moveTo>
                <a:lnTo>
                  <a:pt x="2970789" y="0"/>
                </a:lnTo>
                <a:cubicBezTo>
                  <a:pt x="3064394" y="0"/>
                  <a:pt x="3140275" y="75881"/>
                  <a:pt x="3140275" y="169486"/>
                </a:cubicBezTo>
                <a:lnTo>
                  <a:pt x="3140275" y="2118572"/>
                </a:lnTo>
                <a:lnTo>
                  <a:pt x="3140275" y="2118572"/>
                </a:lnTo>
                <a:lnTo>
                  <a:pt x="0" y="2118572"/>
                </a:lnTo>
                <a:lnTo>
                  <a:pt x="0" y="2118572"/>
                </a:lnTo>
                <a:lnTo>
                  <a:pt x="0" y="169486"/>
                </a:lnTo>
                <a:cubicBezTo>
                  <a:pt x="0" y="75881"/>
                  <a:pt x="75881" y="0"/>
                  <a:pt x="169486" y="0"/>
                </a:cubicBezTo>
                <a:close/>
              </a:path>
            </a:pathLst>
          </a:custGeom>
        </p:spPr>
        <p:style>
          <a:lnRef idx="2">
            <a:schemeClr val="accent2">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68691" tIns="106791" rIns="68691" bIns="19050" numCol="1" spcCol="1270" anchor="t" anchorCtr="0">
            <a:noAutofit/>
          </a:bodyPr>
          <a:lstStyle/>
          <a:p>
            <a:pPr marL="114300" lvl="1" indent="-114300" defTabSz="666750">
              <a:lnSpc>
                <a:spcPct val="90000"/>
              </a:lnSpc>
              <a:spcBef>
                <a:spcPct val="0"/>
              </a:spcBef>
              <a:spcAft>
                <a:spcPts val="600"/>
              </a:spcAft>
              <a:buFont typeface="Arial" panose="020B0604020202020204" pitchFamily="34" charset="0"/>
              <a:buChar char="•"/>
            </a:pPr>
            <a:r>
              <a:rPr lang="en-GB" sz="1500" kern="1200" noProof="0"/>
              <a:t>Switch delivery partners or engage </a:t>
            </a:r>
            <a:r>
              <a:rPr lang="en-GB" sz="1500"/>
              <a:t>providers in</a:t>
            </a:r>
            <a:r>
              <a:rPr lang="en-GB" sz="1500" kern="1200" noProof="0"/>
              <a:t> underperforming regions.</a:t>
            </a:r>
            <a:endParaRPr lang="en-GB" sz="1500"/>
          </a:p>
          <a:p>
            <a:pPr marL="114300" lvl="1" indent="-114300" algn="l" defTabSz="666750">
              <a:lnSpc>
                <a:spcPct val="90000"/>
              </a:lnSpc>
              <a:spcBef>
                <a:spcPct val="0"/>
              </a:spcBef>
              <a:spcAft>
                <a:spcPts val="600"/>
              </a:spcAft>
              <a:buFont typeface="Arial" panose="020B0604020202020204" pitchFamily="34" charset="0"/>
              <a:buChar char="•"/>
            </a:pPr>
            <a:r>
              <a:rPr lang="en-GB" sz="1500" kern="1200" noProof="0"/>
              <a:t>Introduce a priority delivery option for health &amp; beauty products.</a:t>
            </a:r>
          </a:p>
          <a:p>
            <a:pPr marL="114300" lvl="1" indent="-114300" defTabSz="666750">
              <a:lnSpc>
                <a:spcPct val="90000"/>
              </a:lnSpc>
              <a:spcBef>
                <a:spcPct val="0"/>
              </a:spcBef>
              <a:spcAft>
                <a:spcPts val="600"/>
              </a:spcAft>
              <a:buFont typeface="Arial" panose="020B0604020202020204" pitchFamily="34" charset="0"/>
              <a:buChar char="•"/>
            </a:pPr>
            <a:r>
              <a:rPr lang="en-GB" sz="1500" kern="1200" noProof="0"/>
              <a:t>Conduct surveys to identify</a:t>
            </a:r>
            <a:r>
              <a:rPr lang="en-GB" sz="1500"/>
              <a:t> </a:t>
            </a:r>
            <a:r>
              <a:rPr lang="en-GB" sz="1500" kern="1200" noProof="0"/>
              <a:t>issues with furniture products.</a:t>
            </a:r>
            <a:endParaRPr lang="en-GB" sz="1500"/>
          </a:p>
        </p:txBody>
      </p:sp>
      <p:sp>
        <p:nvSpPr>
          <p:cNvPr id="7" name="Freihandform: Form 6">
            <a:extLst>
              <a:ext uri="{FF2B5EF4-FFF2-40B4-BE49-F238E27FC236}">
                <a16:creationId xmlns:a16="http://schemas.microsoft.com/office/drawing/2014/main" id="{0D8E2C51-1E32-1A29-3EF4-FAE1726A9AA6}"/>
              </a:ext>
            </a:extLst>
          </p:cNvPr>
          <p:cNvSpPr/>
          <p:nvPr/>
        </p:nvSpPr>
        <p:spPr>
          <a:xfrm>
            <a:off x="561092" y="3612402"/>
            <a:ext cx="3140275" cy="1007984"/>
          </a:xfrm>
          <a:custGeom>
            <a:avLst/>
            <a:gdLst>
              <a:gd name="connsiteX0" fmla="*/ 0 w 3140275"/>
              <a:gd name="connsiteY0" fmla="*/ 0 h 1007984"/>
              <a:gd name="connsiteX1" fmla="*/ 3140275 w 3140275"/>
              <a:gd name="connsiteY1" fmla="*/ 0 h 1007984"/>
              <a:gd name="connsiteX2" fmla="*/ 3140275 w 3140275"/>
              <a:gd name="connsiteY2" fmla="*/ 1007984 h 1007984"/>
              <a:gd name="connsiteX3" fmla="*/ 0 w 3140275"/>
              <a:gd name="connsiteY3" fmla="*/ 1007984 h 1007984"/>
              <a:gd name="connsiteX4" fmla="*/ 0 w 3140275"/>
              <a:gd name="connsiteY4" fmla="*/ 0 h 10079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0275" h="1007984">
                <a:moveTo>
                  <a:pt x="0" y="0"/>
                </a:moveTo>
                <a:lnTo>
                  <a:pt x="3140275" y="0"/>
                </a:lnTo>
                <a:lnTo>
                  <a:pt x="3140275" y="1007984"/>
                </a:lnTo>
                <a:lnTo>
                  <a:pt x="0" y="1007984"/>
                </a:lnTo>
                <a:lnTo>
                  <a:pt x="0" y="0"/>
                </a:lnTo>
                <a:close/>
              </a:path>
            </a:pathLst>
          </a:cu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87630" tIns="0" rIns="958024" bIns="0" numCol="1" spcCol="1270" anchor="ctr" anchorCtr="0">
            <a:noAutofit/>
          </a:bodyPr>
          <a:lstStyle/>
          <a:p>
            <a:pPr marL="0" lvl="0" indent="0" algn="l" defTabSz="1022350">
              <a:lnSpc>
                <a:spcPct val="90000"/>
              </a:lnSpc>
              <a:spcBef>
                <a:spcPct val="0"/>
              </a:spcBef>
              <a:spcAft>
                <a:spcPts val="600"/>
              </a:spcAft>
              <a:buFont typeface="+mj-lt"/>
              <a:buNone/>
            </a:pPr>
            <a:r>
              <a:rPr lang="en-GB" sz="2300" kern="1200" noProof="0"/>
              <a:t>Service quality &amp; customer satisfaction</a:t>
            </a:r>
          </a:p>
        </p:txBody>
      </p:sp>
      <p:sp>
        <p:nvSpPr>
          <p:cNvPr id="8" name="Ellipse 7" descr="Truck">
            <a:extLst>
              <a:ext uri="{FF2B5EF4-FFF2-40B4-BE49-F238E27FC236}">
                <a16:creationId xmlns:a16="http://schemas.microsoft.com/office/drawing/2014/main" id="{3DE945D5-C0C1-D0F9-D81B-F3BBE1E0EC18}"/>
              </a:ext>
            </a:extLst>
          </p:cNvPr>
          <p:cNvSpPr/>
          <p:nvPr/>
        </p:nvSpPr>
        <p:spPr>
          <a:xfrm>
            <a:off x="2861387" y="3772511"/>
            <a:ext cx="1099096" cy="1099096"/>
          </a:xfrm>
          <a:prstGeom prst="ellipse">
            <a:avLst/>
          </a:prstGeom>
          <a: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p:spPr>
        <p:style>
          <a:lnRef idx="2">
            <a:schemeClr val="accent2">
              <a:tint val="40000"/>
              <a:alpha val="90000"/>
              <a:hueOff val="0"/>
              <a:satOff val="0"/>
              <a:lumOff val="0"/>
              <a:alphaOff val="0"/>
            </a:schemeClr>
          </a:lnRef>
          <a:fillRef idx="1">
            <a:scrgbClr r="0" g="0" b="0"/>
          </a:fillRef>
          <a:effectRef idx="0">
            <a:schemeClr val="accent2">
              <a:tint val="40000"/>
              <a:alpha val="90000"/>
              <a:hueOff val="0"/>
              <a:satOff val="0"/>
              <a:lumOff val="0"/>
              <a:alphaOff val="0"/>
            </a:schemeClr>
          </a:effectRef>
          <a:fontRef idx="minor">
            <a:schemeClr val="dk1">
              <a:hueOff val="0"/>
              <a:satOff val="0"/>
              <a:lumOff val="0"/>
              <a:alphaOff val="0"/>
            </a:schemeClr>
          </a:fontRef>
        </p:style>
        <p:txBody>
          <a:bodyPr/>
          <a:lstStyle/>
          <a:p>
            <a:endParaRPr lang="en-GB" noProof="0"/>
          </a:p>
        </p:txBody>
      </p:sp>
      <p:sp>
        <p:nvSpPr>
          <p:cNvPr id="9" name="Freihandform: Form 8">
            <a:extLst>
              <a:ext uri="{FF2B5EF4-FFF2-40B4-BE49-F238E27FC236}">
                <a16:creationId xmlns:a16="http://schemas.microsoft.com/office/drawing/2014/main" id="{D4C5422C-C1F0-0F60-EC3A-F35C97D5A54C}"/>
              </a:ext>
            </a:extLst>
          </p:cNvPr>
          <p:cNvSpPr/>
          <p:nvPr/>
        </p:nvSpPr>
        <p:spPr>
          <a:xfrm>
            <a:off x="4232778" y="1563046"/>
            <a:ext cx="3140275" cy="2032769"/>
          </a:xfrm>
          <a:custGeom>
            <a:avLst/>
            <a:gdLst>
              <a:gd name="connsiteX0" fmla="*/ 169486 w 3140275"/>
              <a:gd name="connsiteY0" fmla="*/ 0 h 2118572"/>
              <a:gd name="connsiteX1" fmla="*/ 2970789 w 3140275"/>
              <a:gd name="connsiteY1" fmla="*/ 0 h 2118572"/>
              <a:gd name="connsiteX2" fmla="*/ 3140275 w 3140275"/>
              <a:gd name="connsiteY2" fmla="*/ 169486 h 2118572"/>
              <a:gd name="connsiteX3" fmla="*/ 3140275 w 3140275"/>
              <a:gd name="connsiteY3" fmla="*/ 2118572 h 2118572"/>
              <a:gd name="connsiteX4" fmla="*/ 3140275 w 3140275"/>
              <a:gd name="connsiteY4" fmla="*/ 2118572 h 2118572"/>
              <a:gd name="connsiteX5" fmla="*/ 0 w 3140275"/>
              <a:gd name="connsiteY5" fmla="*/ 2118572 h 2118572"/>
              <a:gd name="connsiteX6" fmla="*/ 0 w 3140275"/>
              <a:gd name="connsiteY6" fmla="*/ 2118572 h 2118572"/>
              <a:gd name="connsiteX7" fmla="*/ 0 w 3140275"/>
              <a:gd name="connsiteY7" fmla="*/ 169486 h 2118572"/>
              <a:gd name="connsiteX8" fmla="*/ 169486 w 3140275"/>
              <a:gd name="connsiteY8" fmla="*/ 0 h 2118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40275" h="2118572">
                <a:moveTo>
                  <a:pt x="169486" y="0"/>
                </a:moveTo>
                <a:lnTo>
                  <a:pt x="2970789" y="0"/>
                </a:lnTo>
                <a:cubicBezTo>
                  <a:pt x="3064394" y="0"/>
                  <a:pt x="3140275" y="75881"/>
                  <a:pt x="3140275" y="169486"/>
                </a:cubicBezTo>
                <a:lnTo>
                  <a:pt x="3140275" y="2118572"/>
                </a:lnTo>
                <a:lnTo>
                  <a:pt x="3140275" y="2118572"/>
                </a:lnTo>
                <a:lnTo>
                  <a:pt x="0" y="2118572"/>
                </a:lnTo>
                <a:lnTo>
                  <a:pt x="0" y="2118572"/>
                </a:lnTo>
                <a:lnTo>
                  <a:pt x="0" y="169486"/>
                </a:lnTo>
                <a:cubicBezTo>
                  <a:pt x="0" y="75881"/>
                  <a:pt x="75881" y="0"/>
                  <a:pt x="169486" y="0"/>
                </a:cubicBezTo>
                <a:close/>
              </a:path>
            </a:pathLst>
          </a:custGeom>
        </p:spPr>
        <p:style>
          <a:lnRef idx="2">
            <a:schemeClr val="accent2">
              <a:hueOff val="953895"/>
              <a:satOff val="-21764"/>
              <a:lumOff val="8039"/>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68691" tIns="106791" rIns="68691" bIns="19050" numCol="1" spcCol="1270" anchor="t" anchorCtr="0">
            <a:noAutofit/>
          </a:bodyPr>
          <a:lstStyle/>
          <a:p>
            <a:pPr marL="114300" lvl="1" indent="-114300" algn="l" defTabSz="666750">
              <a:lnSpc>
                <a:spcPct val="90000"/>
              </a:lnSpc>
              <a:spcBef>
                <a:spcPct val="0"/>
              </a:spcBef>
              <a:spcAft>
                <a:spcPts val="600"/>
              </a:spcAft>
              <a:buChar char="•"/>
            </a:pPr>
            <a:r>
              <a:rPr lang="en-GB" sz="1500" kern="1200" noProof="0"/>
              <a:t>Conduct surveys to identify issues with furniture products.
Invest in categories with high repeat purchase rate but low penetration.
Use vouchers and cross-category recommendations to incentivise repeat purchases.</a:t>
            </a:r>
            <a:endParaRPr lang="en-GB" sz="1500" kern="1200" noProof="0">
              <a:latin typeface="+mn-lt"/>
            </a:endParaRPr>
          </a:p>
        </p:txBody>
      </p:sp>
      <p:sp>
        <p:nvSpPr>
          <p:cNvPr id="10" name="Freihandform: Form 9">
            <a:extLst>
              <a:ext uri="{FF2B5EF4-FFF2-40B4-BE49-F238E27FC236}">
                <a16:creationId xmlns:a16="http://schemas.microsoft.com/office/drawing/2014/main" id="{051AD242-7E99-030D-74B6-4D2B61DC3A3A}"/>
              </a:ext>
            </a:extLst>
          </p:cNvPr>
          <p:cNvSpPr/>
          <p:nvPr/>
        </p:nvSpPr>
        <p:spPr>
          <a:xfrm>
            <a:off x="4232778" y="3612402"/>
            <a:ext cx="3140275" cy="1007984"/>
          </a:xfrm>
          <a:custGeom>
            <a:avLst/>
            <a:gdLst>
              <a:gd name="connsiteX0" fmla="*/ 0 w 3140275"/>
              <a:gd name="connsiteY0" fmla="*/ 0 h 1007984"/>
              <a:gd name="connsiteX1" fmla="*/ 3140275 w 3140275"/>
              <a:gd name="connsiteY1" fmla="*/ 0 h 1007984"/>
              <a:gd name="connsiteX2" fmla="*/ 3140275 w 3140275"/>
              <a:gd name="connsiteY2" fmla="*/ 1007984 h 1007984"/>
              <a:gd name="connsiteX3" fmla="*/ 0 w 3140275"/>
              <a:gd name="connsiteY3" fmla="*/ 1007984 h 1007984"/>
              <a:gd name="connsiteX4" fmla="*/ 0 w 3140275"/>
              <a:gd name="connsiteY4" fmla="*/ 0 h 10079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0275" h="1007984">
                <a:moveTo>
                  <a:pt x="0" y="0"/>
                </a:moveTo>
                <a:lnTo>
                  <a:pt x="3140275" y="0"/>
                </a:lnTo>
                <a:lnTo>
                  <a:pt x="3140275" y="1007984"/>
                </a:lnTo>
                <a:lnTo>
                  <a:pt x="0" y="1007984"/>
                </a:lnTo>
                <a:lnTo>
                  <a:pt x="0" y="0"/>
                </a:lnTo>
                <a:close/>
              </a:path>
            </a:pathLst>
          </a:custGeom>
        </p:spPr>
        <p:style>
          <a:lnRef idx="2">
            <a:schemeClr val="accent2">
              <a:hueOff val="953895"/>
              <a:satOff val="-21764"/>
              <a:lumOff val="8039"/>
              <a:alphaOff val="0"/>
            </a:schemeClr>
          </a:lnRef>
          <a:fillRef idx="1">
            <a:schemeClr val="accent2">
              <a:hueOff val="953895"/>
              <a:satOff val="-21764"/>
              <a:lumOff val="8039"/>
              <a:alphaOff val="0"/>
            </a:schemeClr>
          </a:fillRef>
          <a:effectRef idx="0">
            <a:schemeClr val="accent2">
              <a:hueOff val="953895"/>
              <a:satOff val="-21764"/>
              <a:lumOff val="8039"/>
              <a:alphaOff val="0"/>
            </a:schemeClr>
          </a:effectRef>
          <a:fontRef idx="minor">
            <a:schemeClr val="lt1"/>
          </a:fontRef>
        </p:style>
        <p:txBody>
          <a:bodyPr spcFirstLastPara="0" vert="horz" wrap="square" lIns="87630" tIns="0" rIns="958024" bIns="0" numCol="1" spcCol="1270" anchor="ctr" anchorCtr="0">
            <a:noAutofit/>
          </a:bodyPr>
          <a:lstStyle/>
          <a:p>
            <a:pPr marL="0" lvl="0" indent="0" algn="l" defTabSz="1022350">
              <a:lnSpc>
                <a:spcPct val="90000"/>
              </a:lnSpc>
              <a:spcBef>
                <a:spcPct val="0"/>
              </a:spcBef>
              <a:spcAft>
                <a:spcPts val="600"/>
              </a:spcAft>
              <a:buFont typeface="+mj-lt"/>
              <a:buNone/>
            </a:pPr>
            <a:r>
              <a:rPr lang="en-GB" sz="2300" kern="1200" noProof="0"/>
              <a:t>Customer purchase behaviours</a:t>
            </a:r>
          </a:p>
        </p:txBody>
      </p:sp>
      <p:sp>
        <p:nvSpPr>
          <p:cNvPr id="11" name="Ellipse 10" descr="Money with solid fill">
            <a:extLst>
              <a:ext uri="{FF2B5EF4-FFF2-40B4-BE49-F238E27FC236}">
                <a16:creationId xmlns:a16="http://schemas.microsoft.com/office/drawing/2014/main" id="{245C9480-B1C1-2346-CCDA-35AC1EF464FE}"/>
              </a:ext>
            </a:extLst>
          </p:cNvPr>
          <p:cNvSpPr/>
          <p:nvPr/>
        </p:nvSpPr>
        <p:spPr>
          <a:xfrm>
            <a:off x="6533073" y="3772511"/>
            <a:ext cx="1099096" cy="1099096"/>
          </a:xfrm>
          <a:prstGeom prst="ellipse">
            <a:avLst/>
          </a:prstGeom>
          <a:blipFill>
            <a:blip r:embed="rId9">
              <a:extLst>
                <a:ext uri="{96DAC541-7B7A-43D3-8B79-37D633B846F1}">
                  <asvg:svgBlip xmlns:asvg="http://schemas.microsoft.com/office/drawing/2016/SVG/main" r:embed="rId10"/>
                </a:ext>
              </a:extLst>
            </a:blip>
            <a:srcRect/>
            <a:stretch>
              <a:fillRect/>
            </a:stretch>
          </a:blipFill>
        </p:spPr>
        <p:style>
          <a:lnRef idx="2">
            <a:schemeClr val="accent2">
              <a:tint val="40000"/>
              <a:alpha val="90000"/>
              <a:hueOff val="987282"/>
              <a:satOff val="-2587"/>
              <a:lumOff val="926"/>
              <a:alphaOff val="0"/>
            </a:schemeClr>
          </a:lnRef>
          <a:fillRef idx="1">
            <a:scrgbClr r="0" g="0" b="0"/>
          </a:fillRef>
          <a:effectRef idx="0">
            <a:schemeClr val="accent2">
              <a:tint val="40000"/>
              <a:alpha val="90000"/>
              <a:hueOff val="987282"/>
              <a:satOff val="-2587"/>
              <a:lumOff val="926"/>
              <a:alphaOff val="0"/>
            </a:schemeClr>
          </a:effectRef>
          <a:fontRef idx="minor">
            <a:schemeClr val="dk1">
              <a:hueOff val="0"/>
              <a:satOff val="0"/>
              <a:lumOff val="0"/>
              <a:alphaOff val="0"/>
            </a:schemeClr>
          </a:fontRef>
        </p:style>
        <p:txBody>
          <a:bodyPr/>
          <a:lstStyle/>
          <a:p>
            <a:endParaRPr lang="en-GB" noProof="0"/>
          </a:p>
        </p:txBody>
      </p:sp>
      <p:sp>
        <p:nvSpPr>
          <p:cNvPr id="12" name="Freihandform: Form 11">
            <a:extLst>
              <a:ext uri="{FF2B5EF4-FFF2-40B4-BE49-F238E27FC236}">
                <a16:creationId xmlns:a16="http://schemas.microsoft.com/office/drawing/2014/main" id="{80DB258E-F8CB-74B5-128A-6AA40C60A240}"/>
              </a:ext>
            </a:extLst>
          </p:cNvPr>
          <p:cNvSpPr/>
          <p:nvPr/>
        </p:nvSpPr>
        <p:spPr>
          <a:xfrm>
            <a:off x="7904464" y="1563046"/>
            <a:ext cx="3140275" cy="2032769"/>
          </a:xfrm>
          <a:custGeom>
            <a:avLst/>
            <a:gdLst>
              <a:gd name="connsiteX0" fmla="*/ 169339 w 3140275"/>
              <a:gd name="connsiteY0" fmla="*/ 0 h 2116743"/>
              <a:gd name="connsiteX1" fmla="*/ 2970936 w 3140275"/>
              <a:gd name="connsiteY1" fmla="*/ 0 h 2116743"/>
              <a:gd name="connsiteX2" fmla="*/ 3140275 w 3140275"/>
              <a:gd name="connsiteY2" fmla="*/ 169339 h 2116743"/>
              <a:gd name="connsiteX3" fmla="*/ 3140275 w 3140275"/>
              <a:gd name="connsiteY3" fmla="*/ 2116743 h 2116743"/>
              <a:gd name="connsiteX4" fmla="*/ 3140275 w 3140275"/>
              <a:gd name="connsiteY4" fmla="*/ 2116743 h 2116743"/>
              <a:gd name="connsiteX5" fmla="*/ 0 w 3140275"/>
              <a:gd name="connsiteY5" fmla="*/ 2116743 h 2116743"/>
              <a:gd name="connsiteX6" fmla="*/ 0 w 3140275"/>
              <a:gd name="connsiteY6" fmla="*/ 2116743 h 2116743"/>
              <a:gd name="connsiteX7" fmla="*/ 0 w 3140275"/>
              <a:gd name="connsiteY7" fmla="*/ 169339 h 2116743"/>
              <a:gd name="connsiteX8" fmla="*/ 169339 w 3140275"/>
              <a:gd name="connsiteY8" fmla="*/ 0 h 2116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40275" h="2116743">
                <a:moveTo>
                  <a:pt x="169339" y="0"/>
                </a:moveTo>
                <a:lnTo>
                  <a:pt x="2970936" y="0"/>
                </a:lnTo>
                <a:cubicBezTo>
                  <a:pt x="3064459" y="0"/>
                  <a:pt x="3140275" y="75816"/>
                  <a:pt x="3140275" y="169339"/>
                </a:cubicBezTo>
                <a:lnTo>
                  <a:pt x="3140275" y="2116743"/>
                </a:lnTo>
                <a:lnTo>
                  <a:pt x="3140275" y="2116743"/>
                </a:lnTo>
                <a:lnTo>
                  <a:pt x="0" y="2116743"/>
                </a:lnTo>
                <a:lnTo>
                  <a:pt x="0" y="2116743"/>
                </a:lnTo>
                <a:lnTo>
                  <a:pt x="0" y="169339"/>
                </a:lnTo>
                <a:cubicBezTo>
                  <a:pt x="0" y="75816"/>
                  <a:pt x="75816" y="0"/>
                  <a:pt x="169339" y="0"/>
                </a:cubicBezTo>
                <a:close/>
              </a:path>
            </a:pathLst>
          </a:custGeom>
        </p:spPr>
        <p:style>
          <a:lnRef idx="2">
            <a:schemeClr val="accent2">
              <a:hueOff val="1907789"/>
              <a:satOff val="-43528"/>
              <a:lumOff val="16079"/>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68648" tIns="106748" rIns="68648" bIns="19050" numCol="1" spcCol="1270" anchor="t" anchorCtr="0">
            <a:noAutofit/>
          </a:bodyPr>
          <a:lstStyle/>
          <a:p>
            <a:pPr marL="114300" lvl="1" indent="-114300" defTabSz="666750">
              <a:lnSpc>
                <a:spcPct val="90000"/>
              </a:lnSpc>
              <a:spcBef>
                <a:spcPct val="0"/>
              </a:spcBef>
              <a:spcAft>
                <a:spcPts val="600"/>
              </a:spcAft>
              <a:buFont typeface="Arial" panose="020B0604020202020204" pitchFamily="34" charset="0"/>
              <a:buChar char="•"/>
            </a:pPr>
            <a:r>
              <a:rPr lang="en-GB" sz="1500" kern="1200" noProof="0"/>
              <a:t>Create </a:t>
            </a:r>
            <a:r>
              <a:rPr lang="en-GB" sz="1500"/>
              <a:t>a distinct category</a:t>
            </a:r>
            <a:r>
              <a:rPr lang="en-GB" sz="1500" kern="1200" noProof="0"/>
              <a:t> hierarchy to ease navigation.</a:t>
            </a:r>
          </a:p>
          <a:p>
            <a:pPr marL="114300" lvl="1" indent="-114300" defTabSz="666750">
              <a:lnSpc>
                <a:spcPct val="90000"/>
              </a:lnSpc>
              <a:spcBef>
                <a:spcPct val="0"/>
              </a:spcBef>
              <a:spcAft>
                <a:spcPts val="600"/>
              </a:spcAft>
              <a:buFont typeface="Arial" panose="020B0604020202020204" pitchFamily="34" charset="0"/>
              <a:buChar char="•"/>
            </a:pPr>
            <a:r>
              <a:rPr lang="en-GB" sz="1500"/>
              <a:t>Standardise naming</a:t>
            </a:r>
            <a:r>
              <a:rPr lang="en-GB" sz="1500" kern="1200" noProof="0"/>
              <a:t> to </a:t>
            </a:r>
            <a:r>
              <a:rPr lang="en-GB" sz="1500"/>
              <a:t>reduce confusion</a:t>
            </a:r>
            <a:r>
              <a:rPr lang="en-GB" sz="1500" kern="1200" noProof="0"/>
              <a:t> and improve search accuracy.</a:t>
            </a:r>
          </a:p>
          <a:p>
            <a:pPr marL="114300" lvl="1" indent="-114300" algn="l" defTabSz="666750">
              <a:lnSpc>
                <a:spcPct val="90000"/>
              </a:lnSpc>
              <a:spcBef>
                <a:spcPct val="0"/>
              </a:spcBef>
              <a:spcAft>
                <a:spcPts val="600"/>
              </a:spcAft>
              <a:buFont typeface="Arial" panose="020B0604020202020204" pitchFamily="34" charset="0"/>
              <a:buChar char="•"/>
            </a:pPr>
            <a:r>
              <a:rPr lang="en-GB" sz="1500" kern="1200" noProof="0"/>
              <a:t>Separate delivery and product reviews to improve clarity on true product quality.</a:t>
            </a:r>
          </a:p>
        </p:txBody>
      </p:sp>
      <p:sp>
        <p:nvSpPr>
          <p:cNvPr id="14" name="Freihandform: Form 13">
            <a:extLst>
              <a:ext uri="{FF2B5EF4-FFF2-40B4-BE49-F238E27FC236}">
                <a16:creationId xmlns:a16="http://schemas.microsoft.com/office/drawing/2014/main" id="{C63B67BC-9238-BC9B-9670-0DD46F2B6CAF}"/>
              </a:ext>
            </a:extLst>
          </p:cNvPr>
          <p:cNvSpPr/>
          <p:nvPr/>
        </p:nvSpPr>
        <p:spPr>
          <a:xfrm>
            <a:off x="7904464" y="3611944"/>
            <a:ext cx="3140275" cy="1007984"/>
          </a:xfrm>
          <a:custGeom>
            <a:avLst/>
            <a:gdLst>
              <a:gd name="connsiteX0" fmla="*/ 0 w 3140275"/>
              <a:gd name="connsiteY0" fmla="*/ 0 h 1007984"/>
              <a:gd name="connsiteX1" fmla="*/ 3140275 w 3140275"/>
              <a:gd name="connsiteY1" fmla="*/ 0 h 1007984"/>
              <a:gd name="connsiteX2" fmla="*/ 3140275 w 3140275"/>
              <a:gd name="connsiteY2" fmla="*/ 1007984 h 1007984"/>
              <a:gd name="connsiteX3" fmla="*/ 0 w 3140275"/>
              <a:gd name="connsiteY3" fmla="*/ 1007984 h 1007984"/>
              <a:gd name="connsiteX4" fmla="*/ 0 w 3140275"/>
              <a:gd name="connsiteY4" fmla="*/ 0 h 10079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0275" h="1007984">
                <a:moveTo>
                  <a:pt x="0" y="0"/>
                </a:moveTo>
                <a:lnTo>
                  <a:pt x="3140275" y="0"/>
                </a:lnTo>
                <a:lnTo>
                  <a:pt x="3140275" y="1007984"/>
                </a:lnTo>
                <a:lnTo>
                  <a:pt x="0" y="1007984"/>
                </a:lnTo>
                <a:lnTo>
                  <a:pt x="0" y="0"/>
                </a:lnTo>
                <a:close/>
              </a:path>
            </a:pathLst>
          </a:custGeom>
        </p:spPr>
        <p:style>
          <a:lnRef idx="2">
            <a:schemeClr val="accent2">
              <a:hueOff val="1907789"/>
              <a:satOff val="-43528"/>
              <a:lumOff val="16079"/>
              <a:alphaOff val="0"/>
            </a:schemeClr>
          </a:lnRef>
          <a:fillRef idx="1">
            <a:schemeClr val="accent2">
              <a:hueOff val="1907789"/>
              <a:satOff val="-43528"/>
              <a:lumOff val="16079"/>
              <a:alphaOff val="0"/>
            </a:schemeClr>
          </a:fillRef>
          <a:effectRef idx="0">
            <a:schemeClr val="accent2">
              <a:hueOff val="1907789"/>
              <a:satOff val="-43528"/>
              <a:lumOff val="16079"/>
              <a:alphaOff val="0"/>
            </a:schemeClr>
          </a:effectRef>
          <a:fontRef idx="minor">
            <a:schemeClr val="lt1"/>
          </a:fontRef>
        </p:style>
        <p:txBody>
          <a:bodyPr spcFirstLastPara="0" vert="horz" wrap="square" lIns="87630" tIns="0" rIns="958024" bIns="0" numCol="1" spcCol="1270" anchor="ctr" anchorCtr="0">
            <a:noAutofit/>
          </a:bodyPr>
          <a:lstStyle/>
          <a:p>
            <a:pPr marL="0" lvl="0" indent="0" algn="l" defTabSz="1022350">
              <a:lnSpc>
                <a:spcPct val="90000"/>
              </a:lnSpc>
              <a:spcBef>
                <a:spcPct val="0"/>
              </a:spcBef>
              <a:spcAft>
                <a:spcPts val="600"/>
              </a:spcAft>
              <a:buNone/>
            </a:pPr>
            <a:r>
              <a:rPr lang="en-GB" sz="2300" kern="1200" noProof="0"/>
              <a:t>Platform ease of use</a:t>
            </a:r>
          </a:p>
        </p:txBody>
      </p:sp>
      <p:sp>
        <p:nvSpPr>
          <p:cNvPr id="15" name="Ellipse 14" descr="Internet with solid fill">
            <a:extLst>
              <a:ext uri="{FF2B5EF4-FFF2-40B4-BE49-F238E27FC236}">
                <a16:creationId xmlns:a16="http://schemas.microsoft.com/office/drawing/2014/main" id="{8F18A65A-F5FA-302F-4C11-AB41A19488F6}"/>
              </a:ext>
            </a:extLst>
          </p:cNvPr>
          <p:cNvSpPr/>
          <p:nvPr/>
        </p:nvSpPr>
        <p:spPr>
          <a:xfrm>
            <a:off x="10204759" y="3772054"/>
            <a:ext cx="1099096" cy="1099096"/>
          </a:xfrm>
          <a:prstGeom prst="ellipse">
            <a:avLst/>
          </a:prstGeom>
          <a:blipFill>
            <a:blip r:embed="rId11">
              <a:extLst>
                <a:ext uri="{96DAC541-7B7A-43D3-8B79-37D633B846F1}">
                  <asvg:svgBlip xmlns:asvg="http://schemas.microsoft.com/office/drawing/2016/SVG/main" r:embed="rId12"/>
                </a:ext>
              </a:extLst>
            </a:blip>
            <a:srcRect/>
            <a:stretch>
              <a:fillRect/>
            </a:stretch>
          </a:blipFill>
        </p:spPr>
        <p:style>
          <a:lnRef idx="2">
            <a:schemeClr val="accent2">
              <a:tint val="40000"/>
              <a:alpha val="90000"/>
              <a:hueOff val="1974564"/>
              <a:satOff val="-5173"/>
              <a:lumOff val="1852"/>
              <a:alphaOff val="0"/>
            </a:schemeClr>
          </a:lnRef>
          <a:fillRef idx="1">
            <a:scrgbClr r="0" g="0" b="0"/>
          </a:fillRef>
          <a:effectRef idx="0">
            <a:schemeClr val="accent2">
              <a:tint val="40000"/>
              <a:alpha val="90000"/>
              <a:hueOff val="1974564"/>
              <a:satOff val="-5173"/>
              <a:lumOff val="1852"/>
              <a:alphaOff val="0"/>
            </a:schemeClr>
          </a:effectRef>
          <a:fontRef idx="minor">
            <a:schemeClr val="dk1">
              <a:hueOff val="0"/>
              <a:satOff val="0"/>
              <a:lumOff val="0"/>
              <a:alphaOff val="0"/>
            </a:schemeClr>
          </a:fontRef>
        </p:style>
        <p:txBody>
          <a:bodyPr/>
          <a:lstStyle/>
          <a:p>
            <a:endParaRPr lang="en-GB" noProof="0"/>
          </a:p>
        </p:txBody>
      </p:sp>
      <p:sp>
        <p:nvSpPr>
          <p:cNvPr id="5" name="Slide Number Placeholder 4">
            <a:extLst>
              <a:ext uri="{FF2B5EF4-FFF2-40B4-BE49-F238E27FC236}">
                <a16:creationId xmlns:a16="http://schemas.microsoft.com/office/drawing/2014/main" id="{E40BCD37-3F8E-9054-4370-BA0223EA2581}"/>
              </a:ext>
            </a:extLst>
          </p:cNvPr>
          <p:cNvSpPr>
            <a:spLocks noGrp="1"/>
          </p:cNvSpPr>
          <p:nvPr>
            <p:ph type="sldNum" sz="quarter" idx="12"/>
          </p:nvPr>
        </p:nvSpPr>
        <p:spPr/>
        <p:txBody>
          <a:bodyPr/>
          <a:lstStyle/>
          <a:p>
            <a:r>
              <a:rPr lang="en-GB" noProof="0"/>
              <a:t>10</a:t>
            </a:r>
          </a:p>
        </p:txBody>
      </p:sp>
      <p:sp>
        <p:nvSpPr>
          <p:cNvPr id="13" name="Title 1">
            <a:extLst>
              <a:ext uri="{FF2B5EF4-FFF2-40B4-BE49-F238E27FC236}">
                <a16:creationId xmlns:a16="http://schemas.microsoft.com/office/drawing/2014/main" id="{B754DB7B-D6A7-F6A2-4442-5DA93DCB2137}"/>
              </a:ext>
            </a:extLst>
          </p:cNvPr>
          <p:cNvSpPr txBox="1">
            <a:spLocks/>
          </p:cNvSpPr>
          <p:nvPr/>
        </p:nvSpPr>
        <p:spPr>
          <a:xfrm>
            <a:off x="515322" y="0"/>
            <a:ext cx="10058400" cy="160934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5400" kern="1200" cap="all" baseline="0">
                <a:blipFill>
                  <a:blip r:embed="rId13">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n-GB" noProof="0"/>
              <a:t>STRATEGIC RECOMMENDATIONS</a:t>
            </a:r>
          </a:p>
        </p:txBody>
      </p:sp>
    </p:spTree>
    <p:extLst>
      <p:ext uri="{BB962C8B-B14F-4D97-AF65-F5344CB8AC3E}">
        <p14:creationId xmlns:p14="http://schemas.microsoft.com/office/powerpoint/2010/main" val="174742044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Wood Type</Template>
  <TotalTime>0</TotalTime>
  <Words>894</Words>
  <Application>Microsoft Macintosh PowerPoint</Application>
  <PresentationFormat>Widescreen</PresentationFormat>
  <Paragraphs>87</Paragraphs>
  <Slides>11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Rockwell</vt:lpstr>
      <vt:lpstr>Rockwell Condensed</vt:lpstr>
      <vt:lpstr>Rockwell Extra Bold</vt:lpstr>
      <vt:lpstr>Wingdings</vt:lpstr>
      <vt:lpstr>Wood Type</vt:lpstr>
      <vt:lpstr>Beyond  the Buy Button</vt:lpstr>
      <vt:lpstr>Background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Zilu Gong</dc:creator>
  <cp:keywords/>
  <dc:description/>
  <cp:lastModifiedBy>Zilu Gong</cp:lastModifiedBy>
  <cp:revision>2</cp:revision>
  <dcterms:created xsi:type="dcterms:W3CDTF">2025-11-14T10:25:24Z</dcterms:created>
  <dcterms:modified xsi:type="dcterms:W3CDTF">2025-11-16T22:42:12Z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rogh@microsoft.com</vt:lpwstr>
  </property>
  <property fmtid="{D5CDD505-2E9C-101B-9397-08002B2CF9AE}" pid="5" name="MSIP_Label_f42aa342-8706-4288-bd11-ebb85995028c_SetDate">
    <vt:lpwstr>2018-02-05T19:56:32.6740186Z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Extended_MSFT_Method">
    <vt:lpwstr>Automatic</vt:lpwstr>
  </property>
  <property fmtid="{D5CDD505-2E9C-101B-9397-08002B2CF9AE}" pid="9" name="Sensitivity">
    <vt:lpwstr>General</vt:lpwstr>
  </property>
</Properties>
</file>